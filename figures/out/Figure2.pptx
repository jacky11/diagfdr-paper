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999538" cy="7200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9" autoAdjust="0"/>
    <p:restoredTop sz="94660"/>
  </p:normalViewPr>
  <p:slideViewPr>
    <p:cSldViewPr snapToGrid="0">
      <p:cViewPr varScale="1">
        <p:scale>
          <a:sx n="87" d="100"/>
          <a:sy n="87" d="100"/>
        </p:scale>
        <p:origin x="15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178481"/>
            <a:ext cx="7649607" cy="2506980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782140"/>
            <a:ext cx="6749654" cy="1738550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5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58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795226"/>
            <a:ext cx="7762102" cy="2995374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4818938"/>
            <a:ext cx="7762102" cy="1575196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9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916906"/>
            <a:ext cx="3824804" cy="456890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916906"/>
            <a:ext cx="3824804" cy="456890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95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83383"/>
            <a:ext cx="7762102" cy="139184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765221"/>
            <a:ext cx="3807226" cy="865108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630329"/>
            <a:ext cx="3807226" cy="38688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765221"/>
            <a:ext cx="3825976" cy="865108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630329"/>
            <a:ext cx="3825976" cy="38688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45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092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34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80060"/>
            <a:ext cx="2902585" cy="168021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036798"/>
            <a:ext cx="4556016" cy="5117306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160270"/>
            <a:ext cx="2902585" cy="400216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29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80060"/>
            <a:ext cx="2902585" cy="168021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036798"/>
            <a:ext cx="4556016" cy="5117306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160270"/>
            <a:ext cx="2902585" cy="4002167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47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751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83381"/>
            <a:ext cx="1940525" cy="610243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383381"/>
            <a:ext cx="5709082" cy="610243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5926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83383"/>
            <a:ext cx="7762102" cy="1391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916906"/>
            <a:ext cx="7762102" cy="4568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6674169"/>
            <a:ext cx="2024896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773A9-19AE-46C1-BB82-E862D34C551C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6674169"/>
            <a:ext cx="3037344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6674169"/>
            <a:ext cx="2024896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97529-3EF2-40BF-BA65-2ACDF19B1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84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ZoneTexte 67">
            <a:extLst>
              <a:ext uri="{FF2B5EF4-FFF2-40B4-BE49-F238E27FC236}">
                <a16:creationId xmlns:a16="http://schemas.microsoft.com/office/drawing/2014/main" id="{8ABC92F7-A09A-C84E-A428-463BDD318442}"/>
              </a:ext>
            </a:extLst>
          </p:cNvPr>
          <p:cNvSpPr txBox="1"/>
          <p:nvPr/>
        </p:nvSpPr>
        <p:spPr>
          <a:xfrm>
            <a:off x="39575" y="616857"/>
            <a:ext cx="251708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Input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4585867-12A2-87F3-0846-BE149B979A7F}"/>
              </a:ext>
            </a:extLst>
          </p:cNvPr>
          <p:cNvSpPr/>
          <p:nvPr/>
        </p:nvSpPr>
        <p:spPr>
          <a:xfrm>
            <a:off x="6885236" y="2176634"/>
            <a:ext cx="2073282" cy="968376"/>
          </a:xfrm>
          <a:prstGeom prst="rect">
            <a:avLst/>
          </a:prstGeom>
          <a:solidFill>
            <a:srgbClr val="FFFBEB"/>
          </a:solidFill>
          <a:ln w="15240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C3CFCE99-2001-1132-8360-C5875AF79F91}"/>
              </a:ext>
            </a:extLst>
          </p:cNvPr>
          <p:cNvSpPr txBox="1"/>
          <p:nvPr/>
        </p:nvSpPr>
        <p:spPr>
          <a:xfrm>
            <a:off x="6935302" y="2228328"/>
            <a:ext cx="87075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HTML report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7CB00AD-09E4-643B-3A0F-3444B680DD45}"/>
              </a:ext>
            </a:extLst>
          </p:cNvPr>
          <p:cNvSpPr txBox="1"/>
          <p:nvPr/>
        </p:nvSpPr>
        <p:spPr>
          <a:xfrm>
            <a:off x="6947998" y="2490792"/>
            <a:ext cx="1112805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800" dirty="0" err="1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dfdr_render_report</a:t>
            </a:r>
            <a:r>
              <a:rPr lang="fr-FR" sz="800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()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35A86F20-410D-ECCB-7F06-59E27016BEE4}"/>
              </a:ext>
            </a:extLst>
          </p:cNvPr>
          <p:cNvSpPr txBox="1"/>
          <p:nvPr/>
        </p:nvSpPr>
        <p:spPr>
          <a:xfrm>
            <a:off x="6934650" y="2753616"/>
            <a:ext cx="20249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 dirty="0" err="1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reader</a:t>
            </a:r>
            <a:r>
              <a:rPr lang="fr-FR" sz="900" dirty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/</a:t>
            </a:r>
            <a:r>
              <a:rPr lang="fr-FR" sz="900" dirty="0" err="1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reviewer</a:t>
            </a:r>
            <a:r>
              <a:rPr lang="fr-FR" sz="900" dirty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 </a:t>
            </a:r>
            <a:r>
              <a:rPr lang="fr-FR" sz="900" dirty="0" err="1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friendly</a:t>
            </a:r>
            <a:r>
              <a:rPr lang="fr-FR" sz="900" dirty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 HTML page</a:t>
            </a:r>
          </a:p>
          <a:p>
            <a:pPr algn="l"/>
            <a:endParaRPr lang="fr-FR" sz="900" dirty="0">
              <a:ln/>
              <a:solidFill>
                <a:srgbClr val="475569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A56B8A8-9762-1011-2DB4-2EF3C3190EDC}"/>
              </a:ext>
            </a:extLst>
          </p:cNvPr>
          <p:cNvSpPr/>
          <p:nvPr/>
        </p:nvSpPr>
        <p:spPr>
          <a:xfrm>
            <a:off x="6889857" y="920713"/>
            <a:ext cx="2073282" cy="1196434"/>
          </a:xfrm>
          <a:prstGeom prst="rect">
            <a:avLst/>
          </a:prstGeom>
          <a:solidFill>
            <a:srgbClr val="FFF7ED"/>
          </a:solidFill>
          <a:ln w="15240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FF67B3E1-B2E5-3718-0C66-7F2501056390}"/>
              </a:ext>
            </a:extLst>
          </p:cNvPr>
          <p:cNvSpPr txBox="1"/>
          <p:nvPr/>
        </p:nvSpPr>
        <p:spPr>
          <a:xfrm>
            <a:off x="6943116" y="964386"/>
            <a:ext cx="133241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 b="1" dirty="0" err="1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Reproducible</a:t>
            </a:r>
            <a:r>
              <a:rPr lang="fr-FR" sz="9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 bundle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59815981-2622-8657-2849-329CCAAAD520}"/>
              </a:ext>
            </a:extLst>
          </p:cNvPr>
          <p:cNvSpPr txBox="1"/>
          <p:nvPr/>
        </p:nvSpPr>
        <p:spPr>
          <a:xfrm>
            <a:off x="6943123" y="1409112"/>
            <a:ext cx="85953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• plots (PNG)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D8DA4D50-ED21-4BCC-F764-09AD06AB2580}"/>
              </a:ext>
            </a:extLst>
          </p:cNvPr>
          <p:cNvSpPr txBox="1"/>
          <p:nvPr/>
        </p:nvSpPr>
        <p:spPr>
          <a:xfrm>
            <a:off x="6943123" y="1637712"/>
            <a:ext cx="91082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• tables (CSV)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68420D5E-DFFF-DBDC-8D5D-41261882E427}"/>
              </a:ext>
            </a:extLst>
          </p:cNvPr>
          <p:cNvSpPr txBox="1"/>
          <p:nvPr/>
        </p:nvSpPr>
        <p:spPr>
          <a:xfrm>
            <a:off x="6943123" y="1866312"/>
            <a:ext cx="192392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• manifest + README + summary</a:t>
            </a:r>
          </a:p>
        </p:txBody>
      </p:sp>
      <p:sp>
        <p:nvSpPr>
          <p:cNvPr id="115" name="Forme libre : forme 114">
            <a:extLst>
              <a:ext uri="{FF2B5EF4-FFF2-40B4-BE49-F238E27FC236}">
                <a16:creationId xmlns:a16="http://schemas.microsoft.com/office/drawing/2014/main" id="{99075909-F700-468B-1D1F-9D06D99D44B6}"/>
              </a:ext>
            </a:extLst>
          </p:cNvPr>
          <p:cNvSpPr/>
          <p:nvPr/>
        </p:nvSpPr>
        <p:spPr>
          <a:xfrm>
            <a:off x="2560528" y="1070235"/>
            <a:ext cx="316777" cy="834543"/>
          </a:xfrm>
          <a:custGeom>
            <a:avLst/>
            <a:gdLst>
              <a:gd name="csX0" fmla="*/ 0 w 990600"/>
              <a:gd name="csY0" fmla="*/ 495300 h 495300"/>
              <a:gd name="csX1" fmla="*/ 990600 w 990600"/>
              <a:gd name="csY1" fmla="*/ 0 h 495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90600" h="495300">
                <a:moveTo>
                  <a:pt x="0" y="495300"/>
                </a:moveTo>
                <a:cubicBezTo>
                  <a:pt x="457200" y="495300"/>
                  <a:pt x="381000" y="0"/>
                  <a:pt x="990600" y="0"/>
                </a:cubicBezTo>
              </a:path>
            </a:pathLst>
          </a:custGeom>
          <a:noFill/>
          <a:ln w="25400" cap="flat">
            <a:solidFill>
              <a:srgbClr val="0F172A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6" name="Forme libre : forme 115">
            <a:extLst>
              <a:ext uri="{FF2B5EF4-FFF2-40B4-BE49-F238E27FC236}">
                <a16:creationId xmlns:a16="http://schemas.microsoft.com/office/drawing/2014/main" id="{352C8C6B-3B29-B0BA-C9C1-DD53D3C8ADD9}"/>
              </a:ext>
            </a:extLst>
          </p:cNvPr>
          <p:cNvSpPr/>
          <p:nvPr/>
        </p:nvSpPr>
        <p:spPr>
          <a:xfrm>
            <a:off x="6600975" y="2592855"/>
            <a:ext cx="285534" cy="613812"/>
          </a:xfrm>
          <a:custGeom>
            <a:avLst/>
            <a:gdLst>
              <a:gd name="csX0" fmla="*/ 0 w 228600"/>
              <a:gd name="csY0" fmla="*/ 1066800 h 1066800"/>
              <a:gd name="csX1" fmla="*/ 228600 w 228600"/>
              <a:gd name="csY1" fmla="*/ 0 h 106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8600" h="1066800">
                <a:moveTo>
                  <a:pt x="0" y="1066800"/>
                </a:moveTo>
                <a:cubicBezTo>
                  <a:pt x="114300" y="1066800"/>
                  <a:pt x="114300" y="0"/>
                  <a:pt x="228600" y="0"/>
                </a:cubicBezTo>
              </a:path>
            </a:pathLst>
          </a:custGeom>
          <a:noFill/>
          <a:ln w="2540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17" name="Forme libre : forme 116">
            <a:extLst>
              <a:ext uri="{FF2B5EF4-FFF2-40B4-BE49-F238E27FC236}">
                <a16:creationId xmlns:a16="http://schemas.microsoft.com/office/drawing/2014/main" id="{4A002519-FD06-07BF-DE5C-C0556170D6A6}"/>
              </a:ext>
            </a:extLst>
          </p:cNvPr>
          <p:cNvSpPr/>
          <p:nvPr/>
        </p:nvSpPr>
        <p:spPr>
          <a:xfrm>
            <a:off x="6600977" y="1484170"/>
            <a:ext cx="285533" cy="1507755"/>
          </a:xfrm>
          <a:custGeom>
            <a:avLst/>
            <a:gdLst>
              <a:gd name="csX0" fmla="*/ 0 w 228600"/>
              <a:gd name="csY0" fmla="*/ 1562100 h 1562100"/>
              <a:gd name="csX1" fmla="*/ 228600 w 228600"/>
              <a:gd name="csY1" fmla="*/ 0 h 1562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8600" h="1562100">
                <a:moveTo>
                  <a:pt x="0" y="1562100"/>
                </a:moveTo>
                <a:cubicBezTo>
                  <a:pt x="114300" y="1562100"/>
                  <a:pt x="114300" y="0"/>
                  <a:pt x="228600" y="0"/>
                </a:cubicBezTo>
              </a:path>
            </a:pathLst>
          </a:custGeom>
          <a:noFill/>
          <a:ln w="25400" cap="flat">
            <a:solidFill>
              <a:srgbClr val="334155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9934F724-A3B4-1318-D55B-AAB0289E27AC}"/>
              </a:ext>
            </a:extLst>
          </p:cNvPr>
          <p:cNvGrpSpPr/>
          <p:nvPr/>
        </p:nvGrpSpPr>
        <p:grpSpPr>
          <a:xfrm>
            <a:off x="38563" y="903781"/>
            <a:ext cx="2518100" cy="2065789"/>
            <a:chOff x="745377" y="2373318"/>
            <a:chExt cx="3445623" cy="1951779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F2734DA-2846-D624-B7CA-5D7013D3516C}"/>
                </a:ext>
              </a:extLst>
            </p:cNvPr>
            <p:cNvSpPr/>
            <p:nvPr/>
          </p:nvSpPr>
          <p:spPr>
            <a:xfrm>
              <a:off x="746760" y="2373318"/>
              <a:ext cx="3444240" cy="1951779"/>
            </a:xfrm>
            <a:prstGeom prst="rect">
              <a:avLst/>
            </a:prstGeom>
            <a:solidFill>
              <a:srgbClr val="EEF2FF"/>
            </a:solidFill>
            <a:ln w="15240" cap="flat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E661E8E7-D437-3ABF-86F0-2DA2C37ED0F3}"/>
                </a:ext>
              </a:extLst>
            </p:cNvPr>
            <p:cNvSpPr txBox="1"/>
            <p:nvPr/>
          </p:nvSpPr>
          <p:spPr>
            <a:xfrm>
              <a:off x="746760" y="2411427"/>
              <a:ext cx="2191703" cy="218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Any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search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engine output</a:t>
              </a:r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99D87282-4663-AB2E-BD3F-6E1C1D6325A6}"/>
                </a:ext>
              </a:extLst>
            </p:cNvPr>
            <p:cNvSpPr txBox="1"/>
            <p:nvPr/>
          </p:nvSpPr>
          <p:spPr>
            <a:xfrm>
              <a:off x="745377" y="3050496"/>
              <a:ext cx="2669875" cy="218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PSM-</a:t>
              </a:r>
              <a:r>
                <a:rPr lang="fr-FR" sz="900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level</a:t>
              </a:r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 table (</a:t>
              </a:r>
              <a:r>
                <a:rPr lang="fr-FR" sz="900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targets</a:t>
              </a:r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 + </a:t>
              </a:r>
              <a:r>
                <a:rPr lang="fr-FR" sz="900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decoys</a:t>
              </a:r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A2373341-256D-4E25-C3F3-985CB515BCE5}"/>
                </a:ext>
              </a:extLst>
            </p:cNvPr>
            <p:cNvSpPr txBox="1"/>
            <p:nvPr/>
          </p:nvSpPr>
          <p:spPr>
            <a:xfrm>
              <a:off x="753333" y="2592703"/>
              <a:ext cx="2446143" cy="218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Required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: score,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is_decoy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, id</a:t>
              </a:r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AD1DD105-1B3A-0849-7AEB-437661F44F7F}"/>
                </a:ext>
              </a:extLst>
            </p:cNvPr>
            <p:cNvSpPr txBox="1"/>
            <p:nvPr/>
          </p:nvSpPr>
          <p:spPr>
            <a:xfrm>
              <a:off x="745377" y="2774980"/>
              <a:ext cx="3341073" cy="218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Optional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: q-value, p-value, run/charge/RT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51CDEAD-474F-1337-46D6-E348009D40C0}"/>
                </a:ext>
              </a:extLst>
            </p:cNvPr>
            <p:cNvSpPr/>
            <p:nvPr/>
          </p:nvSpPr>
          <p:spPr>
            <a:xfrm>
              <a:off x="832406" y="3250622"/>
              <a:ext cx="3259979" cy="1008384"/>
            </a:xfrm>
            <a:prstGeom prst="rect">
              <a:avLst/>
            </a:prstGeom>
            <a:solidFill>
              <a:srgbClr val="F8FAFC"/>
            </a:solidFill>
            <a:ln w="15240" cap="flat">
              <a:solidFill>
                <a:srgbClr val="334155"/>
              </a:solidFill>
              <a:custDash>
                <a:ds d="750000" sp="750000"/>
              </a:custDash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7A848929-3BAA-C52E-30BD-F802C8A31301}"/>
                </a:ext>
              </a:extLst>
            </p:cNvPr>
            <p:cNvSpPr txBox="1"/>
            <p:nvPr/>
          </p:nvSpPr>
          <p:spPr>
            <a:xfrm>
              <a:off x="855314" y="3242357"/>
              <a:ext cx="1630177" cy="21809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Provided</a:t>
              </a:r>
              <a:r>
                <a:rPr lang="fr-FR" sz="900" b="1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fr-FR" sz="900" b="1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adapters</a:t>
              </a:r>
              <a:endParaRPr lang="fr-FR" sz="900" b="1" dirty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76" name="ZoneTexte 75">
              <a:extLst>
                <a:ext uri="{FF2B5EF4-FFF2-40B4-BE49-F238E27FC236}">
                  <a16:creationId xmlns:a16="http://schemas.microsoft.com/office/drawing/2014/main" id="{ACC85A14-2E0E-B001-54EC-3A30C196715D}"/>
                </a:ext>
              </a:extLst>
            </p:cNvPr>
            <p:cNvSpPr txBox="1"/>
            <p:nvPr/>
          </p:nvSpPr>
          <p:spPr>
            <a:xfrm>
              <a:off x="893369" y="3392905"/>
              <a:ext cx="2656715" cy="203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read_dfdr_maxquant_psm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msms.txt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64715494-3E38-1989-BADE-47675885EA1F}"/>
                </a:ext>
              </a:extLst>
            </p:cNvPr>
            <p:cNvSpPr txBox="1"/>
            <p:nvPr/>
          </p:nvSpPr>
          <p:spPr>
            <a:xfrm>
              <a:off x="893369" y="3583405"/>
              <a:ext cx="3077859" cy="203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read_dfdr_mzid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(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file.mzid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, 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file.mzIdentML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2E7EB672-FFB9-F99A-CCDD-3B7521721EFB}"/>
                </a:ext>
              </a:extLst>
            </p:cNvPr>
            <p:cNvSpPr txBox="1"/>
            <p:nvPr/>
          </p:nvSpPr>
          <p:spPr>
            <a:xfrm>
              <a:off x="893369" y="3773906"/>
              <a:ext cx="2601880" cy="203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read_diann_parquet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report.parquet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125" name="ZoneTexte 124">
              <a:extLst>
                <a:ext uri="{FF2B5EF4-FFF2-40B4-BE49-F238E27FC236}">
                  <a16:creationId xmlns:a16="http://schemas.microsoft.com/office/drawing/2014/main" id="{99075A2D-338D-F5CA-44A0-451704678C20}"/>
                </a:ext>
              </a:extLst>
            </p:cNvPr>
            <p:cNvSpPr txBox="1"/>
            <p:nvPr/>
          </p:nvSpPr>
          <p:spPr>
            <a:xfrm>
              <a:off x="893369" y="3935830"/>
              <a:ext cx="3199018" cy="319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read_mokapot_psms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file.psms.txt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,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 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file.decoy.psms.txt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</p:grpSp>
      <p:sp>
        <p:nvSpPr>
          <p:cNvPr id="126" name="ZoneTexte 125">
            <a:extLst>
              <a:ext uri="{FF2B5EF4-FFF2-40B4-BE49-F238E27FC236}">
                <a16:creationId xmlns:a16="http://schemas.microsoft.com/office/drawing/2014/main" id="{036255F4-1C04-9761-664D-BD43ACB7901B}"/>
              </a:ext>
            </a:extLst>
          </p:cNvPr>
          <p:cNvSpPr txBox="1"/>
          <p:nvPr/>
        </p:nvSpPr>
        <p:spPr>
          <a:xfrm>
            <a:off x="6894360" y="648531"/>
            <a:ext cx="20641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Output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E38B8583-2225-676E-082F-40FCB9C58253}"/>
              </a:ext>
            </a:extLst>
          </p:cNvPr>
          <p:cNvSpPr txBox="1"/>
          <p:nvPr/>
        </p:nvSpPr>
        <p:spPr>
          <a:xfrm>
            <a:off x="6943116" y="1173918"/>
            <a:ext cx="17332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800" dirty="0" err="1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dfdr_write_report</a:t>
            </a:r>
            <a:r>
              <a:rPr lang="fr-FR" sz="800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()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2D8DEFC9-A60E-C276-DC4A-615EB75678CE}"/>
              </a:ext>
            </a:extLst>
          </p:cNvPr>
          <p:cNvSpPr txBox="1"/>
          <p:nvPr/>
        </p:nvSpPr>
        <p:spPr>
          <a:xfrm>
            <a:off x="0" y="69916"/>
            <a:ext cx="4487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2A56C12A-527E-4881-7C79-D84E890BC493}"/>
              </a:ext>
            </a:extLst>
          </p:cNvPr>
          <p:cNvGrpSpPr/>
          <p:nvPr/>
        </p:nvGrpSpPr>
        <p:grpSpPr>
          <a:xfrm>
            <a:off x="2870874" y="318154"/>
            <a:ext cx="3720735" cy="3036651"/>
            <a:chOff x="3029888" y="303418"/>
            <a:chExt cx="3720735" cy="3036651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31A19BE-D030-F4D8-7B19-C754F9B1ECEF}"/>
                </a:ext>
              </a:extLst>
            </p:cNvPr>
            <p:cNvSpPr/>
            <p:nvPr/>
          </p:nvSpPr>
          <p:spPr>
            <a:xfrm>
              <a:off x="3029888" y="849435"/>
              <a:ext cx="3720734" cy="474854"/>
            </a:xfrm>
            <a:prstGeom prst="rect">
              <a:avLst/>
            </a:prstGeom>
            <a:solidFill>
              <a:srgbClr val="ECFDF5"/>
            </a:solidFill>
            <a:ln w="15240" cap="flat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ZoneTexte 82">
              <a:extLst>
                <a:ext uri="{FF2B5EF4-FFF2-40B4-BE49-F238E27FC236}">
                  <a16:creationId xmlns:a16="http://schemas.microsoft.com/office/drawing/2014/main" id="{ACFF8BFC-3C84-B4A7-EEFC-F343DEC0DF92}"/>
                </a:ext>
              </a:extLst>
            </p:cNvPr>
            <p:cNvSpPr txBox="1"/>
            <p:nvPr/>
          </p:nvSpPr>
          <p:spPr>
            <a:xfrm>
              <a:off x="3122651" y="867451"/>
              <a:ext cx="1896673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Import data (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tool-agnostic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) in R</a:t>
              </a:r>
            </a:p>
          </p:txBody>
        </p:sp>
        <p:sp>
          <p:nvSpPr>
            <p:cNvPr id="84" name="ZoneTexte 83">
              <a:extLst>
                <a:ext uri="{FF2B5EF4-FFF2-40B4-BE49-F238E27FC236}">
                  <a16:creationId xmlns:a16="http://schemas.microsoft.com/office/drawing/2014/main" id="{3C872C00-8695-C88B-529A-AEBC460F5256}"/>
                </a:ext>
              </a:extLst>
            </p:cNvPr>
            <p:cNvSpPr txBox="1"/>
            <p:nvPr/>
          </p:nvSpPr>
          <p:spPr>
            <a:xfrm>
              <a:off x="3122651" y="1096051"/>
              <a:ext cx="2409634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Any format as long as columns are mapped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4F9A9A9-95ED-9ECA-4EB9-F799A47816AE}"/>
                </a:ext>
              </a:extLst>
            </p:cNvPr>
            <p:cNvSpPr/>
            <p:nvPr/>
          </p:nvSpPr>
          <p:spPr>
            <a:xfrm>
              <a:off x="3029888" y="1411593"/>
              <a:ext cx="3720734" cy="727093"/>
            </a:xfrm>
            <a:prstGeom prst="rect">
              <a:avLst/>
            </a:prstGeom>
            <a:solidFill>
              <a:srgbClr val="DCFCE7"/>
            </a:solidFill>
            <a:ln w="15240" cap="flat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ZoneTexte 87">
              <a:extLst>
                <a:ext uri="{FF2B5EF4-FFF2-40B4-BE49-F238E27FC236}">
                  <a16:creationId xmlns:a16="http://schemas.microsoft.com/office/drawing/2014/main" id="{6724CE66-9037-C008-C748-27EDC982AA6B}"/>
                </a:ext>
              </a:extLst>
            </p:cNvPr>
            <p:cNvSpPr txBox="1"/>
            <p:nvPr/>
          </p:nvSpPr>
          <p:spPr>
            <a:xfrm>
              <a:off x="3122649" y="1472376"/>
              <a:ext cx="1082348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Run diagnostics</a:t>
              </a:r>
            </a:p>
          </p:txBody>
        </p: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7DF4B73C-8C8B-2341-CACF-B91CE7528C3B}"/>
                </a:ext>
              </a:extLst>
            </p:cNvPr>
            <p:cNvSpPr txBox="1"/>
            <p:nvPr/>
          </p:nvSpPr>
          <p:spPr>
            <a:xfrm>
              <a:off x="3122649" y="1880580"/>
              <a:ext cx="2895344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Calibration • </a:t>
              </a:r>
              <a:r>
                <a:rPr lang="fr-FR" sz="900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separation</a:t>
              </a:r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 • </a:t>
              </a:r>
              <a:r>
                <a:rPr lang="fr-FR" sz="900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stability</a:t>
              </a:r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 • </a:t>
              </a:r>
              <a:r>
                <a:rPr lang="fr-FR" sz="900" dirty="0" err="1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plausibility</a:t>
              </a:r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 checks</a:t>
              </a:r>
            </a:p>
          </p:txBody>
        </p:sp>
        <p:sp>
          <p:nvSpPr>
            <p:cNvPr id="90" name="ZoneTexte 89">
              <a:extLst>
                <a:ext uri="{FF2B5EF4-FFF2-40B4-BE49-F238E27FC236}">
                  <a16:creationId xmlns:a16="http://schemas.microsoft.com/office/drawing/2014/main" id="{6D0F2D90-947A-86FC-B19B-931ED8FE837F}"/>
                </a:ext>
              </a:extLst>
            </p:cNvPr>
            <p:cNvSpPr txBox="1"/>
            <p:nvPr/>
          </p:nvSpPr>
          <p:spPr>
            <a:xfrm>
              <a:off x="3122649" y="1682653"/>
              <a:ext cx="797013" cy="21544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dfdr_run_all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()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367EF77-AD3E-0131-7D9D-C5E2480EBBDA}"/>
                </a:ext>
              </a:extLst>
            </p:cNvPr>
            <p:cNvSpPr/>
            <p:nvPr/>
          </p:nvSpPr>
          <p:spPr>
            <a:xfrm>
              <a:off x="3029889" y="2216550"/>
              <a:ext cx="3720734" cy="474854"/>
            </a:xfrm>
            <a:prstGeom prst="rect">
              <a:avLst/>
            </a:prstGeom>
            <a:solidFill>
              <a:srgbClr val="F1F5F9"/>
            </a:solidFill>
            <a:ln w="15240" cap="flat">
              <a:solidFill>
                <a:srgbClr val="0F172A"/>
              </a:solidFill>
              <a:custDash>
                <a:ds d="750000" sp="750000"/>
              </a:custDash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C3745302-8ADA-7AB0-8357-F636EC565B6C}"/>
                </a:ext>
              </a:extLst>
            </p:cNvPr>
            <p:cNvSpPr txBox="1"/>
            <p:nvPr/>
          </p:nvSpPr>
          <p:spPr>
            <a:xfrm>
              <a:off x="3109134" y="2234795"/>
              <a:ext cx="3634328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Optional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: if p-values are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missing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,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derive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pseudo p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from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decoys</a:t>
              </a:r>
              <a:endParaRPr lang="fr-FR" sz="9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5D7B1A0D-A98C-10F8-8F33-39B54315CF38}"/>
                </a:ext>
              </a:extLst>
            </p:cNvPr>
            <p:cNvSpPr txBox="1"/>
            <p:nvPr/>
          </p:nvSpPr>
          <p:spPr>
            <a:xfrm>
              <a:off x="3131658" y="2447244"/>
              <a:ext cx="2074607" cy="21544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score_to_pvalue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method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= "</a:t>
              </a:r>
              <a:r>
                <a:rPr lang="fr-FR" sz="800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decoy_ecdf</a:t>
              </a:r>
              <a:r>
                <a:rPr lang="fr-FR" sz="800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")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E37A208-FE45-CCDF-98F6-172C27C4CA40}"/>
                </a:ext>
              </a:extLst>
            </p:cNvPr>
            <p:cNvSpPr/>
            <p:nvPr/>
          </p:nvSpPr>
          <p:spPr>
            <a:xfrm>
              <a:off x="3029889" y="2775991"/>
              <a:ext cx="3720734" cy="564078"/>
            </a:xfrm>
            <a:prstGeom prst="rect">
              <a:avLst/>
            </a:prstGeom>
            <a:solidFill>
              <a:srgbClr val="ECFDF5"/>
            </a:solidFill>
            <a:ln w="15240" cap="flat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6652ADCD-2445-AFB0-DDD8-68580D77CC48}"/>
                </a:ext>
              </a:extLst>
            </p:cNvPr>
            <p:cNvSpPr txBox="1"/>
            <p:nvPr/>
          </p:nvSpPr>
          <p:spPr>
            <a:xfrm>
              <a:off x="3118261" y="2868364"/>
              <a:ext cx="1133644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Report and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share</a:t>
              </a:r>
              <a:endParaRPr lang="fr-FR" sz="9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99" name="ZoneTexte 98">
              <a:extLst>
                <a:ext uri="{FF2B5EF4-FFF2-40B4-BE49-F238E27FC236}">
                  <a16:creationId xmlns:a16="http://schemas.microsoft.com/office/drawing/2014/main" id="{578D15C9-45C1-EB24-6944-47BD5EC480F8}"/>
                </a:ext>
              </a:extLst>
            </p:cNvPr>
            <p:cNvSpPr txBox="1"/>
            <p:nvPr/>
          </p:nvSpPr>
          <p:spPr>
            <a:xfrm>
              <a:off x="3118261" y="3074477"/>
              <a:ext cx="941283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dirty="0">
                  <a:ln/>
                  <a:solidFill>
                    <a:srgbClr val="475569"/>
                  </a:solidFill>
                  <a:latin typeface="Arial"/>
                  <a:cs typeface="Arial"/>
                  <a:sym typeface="Arial"/>
                  <a:rtl val="0"/>
                </a:rPr>
                <a:t>One command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1A9E078-295B-30EC-FA87-625F92894089}"/>
                </a:ext>
              </a:extLst>
            </p:cNvPr>
            <p:cNvSpPr/>
            <p:nvPr/>
          </p:nvSpPr>
          <p:spPr>
            <a:xfrm>
              <a:off x="3029888" y="303418"/>
              <a:ext cx="3720734" cy="474854"/>
            </a:xfrm>
            <a:prstGeom prst="rect">
              <a:avLst/>
            </a:prstGeom>
            <a:solidFill>
              <a:schemeClr val="bg2"/>
            </a:solidFill>
            <a:ln w="15240" cap="flat">
              <a:solidFill>
                <a:srgbClr val="0F172A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3" name="ZoneTexte 122">
              <a:extLst>
                <a:ext uri="{FF2B5EF4-FFF2-40B4-BE49-F238E27FC236}">
                  <a16:creationId xmlns:a16="http://schemas.microsoft.com/office/drawing/2014/main" id="{F1A97613-9C73-FDC1-E4FE-4BA5E47F6FBD}"/>
                </a:ext>
              </a:extLst>
            </p:cNvPr>
            <p:cNvSpPr txBox="1"/>
            <p:nvPr/>
          </p:nvSpPr>
          <p:spPr>
            <a:xfrm>
              <a:off x="3122651" y="517358"/>
              <a:ext cx="2274982" cy="21544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fr-FR" sz="800" dirty="0" err="1">
                  <a:ln/>
                  <a:latin typeface="Arial"/>
                  <a:cs typeface="Arial"/>
                  <a:sym typeface="Arial"/>
                  <a:rtl val="0"/>
                </a:rPr>
                <a:t>install.packages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("</a:t>
              </a:r>
              <a:r>
                <a:rPr lang="fr-FR" sz="800" dirty="0" err="1">
                  <a:ln/>
                  <a:latin typeface="Arial"/>
                  <a:cs typeface="Arial"/>
                  <a:sym typeface="Arial"/>
                  <a:rtl val="0"/>
                </a:rPr>
                <a:t>diagFDR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"); </a:t>
              </a:r>
              <a:r>
                <a:rPr lang="fr-FR" sz="800" dirty="0" err="1">
                  <a:ln/>
                  <a:latin typeface="Arial"/>
                  <a:cs typeface="Arial"/>
                  <a:sym typeface="Arial"/>
                  <a:rtl val="0"/>
                </a:rPr>
                <a:t>library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(</a:t>
              </a:r>
              <a:r>
                <a:rPr lang="fr-FR" sz="800" dirty="0" err="1">
                  <a:ln/>
                  <a:latin typeface="Arial"/>
                  <a:cs typeface="Arial"/>
                  <a:sym typeface="Arial"/>
                  <a:rtl val="0"/>
                </a:rPr>
                <a:t>diagFDR</a:t>
              </a:r>
              <a:r>
                <a:rPr lang="fr-FR" sz="800" dirty="0">
                  <a:ln/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198273EE-07B1-12A1-3A7E-F25C83921BB8}"/>
                </a:ext>
              </a:extLst>
            </p:cNvPr>
            <p:cNvSpPr/>
            <p:nvPr/>
          </p:nvSpPr>
          <p:spPr>
            <a:xfrm>
              <a:off x="6416947" y="872613"/>
              <a:ext cx="324000" cy="324000"/>
            </a:xfrm>
            <a:prstGeom prst="ellipse">
              <a:avLst/>
            </a:prstGeom>
            <a:solidFill>
              <a:srgbClr val="16A34A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1C7D7284-18C9-D2F3-9D48-A15BD83C4265}"/>
                </a:ext>
              </a:extLst>
            </p:cNvPr>
            <p:cNvSpPr txBox="1"/>
            <p:nvPr/>
          </p:nvSpPr>
          <p:spPr>
            <a:xfrm>
              <a:off x="6445569" y="915914"/>
              <a:ext cx="263214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1100" b="1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A16E2573-CA39-A987-8CA4-D9468188050E}"/>
                </a:ext>
              </a:extLst>
            </p:cNvPr>
            <p:cNvSpPr/>
            <p:nvPr/>
          </p:nvSpPr>
          <p:spPr>
            <a:xfrm>
              <a:off x="6415595" y="1430289"/>
              <a:ext cx="324000" cy="324000"/>
            </a:xfrm>
            <a:prstGeom prst="ellipse">
              <a:avLst/>
            </a:prstGeom>
            <a:solidFill>
              <a:srgbClr val="16A34A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ZoneTexte 85">
              <a:extLst>
                <a:ext uri="{FF2B5EF4-FFF2-40B4-BE49-F238E27FC236}">
                  <a16:creationId xmlns:a16="http://schemas.microsoft.com/office/drawing/2014/main" id="{0278C93E-6CC8-9832-F802-B1CDCC01D3D9}"/>
                </a:ext>
              </a:extLst>
            </p:cNvPr>
            <p:cNvSpPr txBox="1"/>
            <p:nvPr/>
          </p:nvSpPr>
          <p:spPr>
            <a:xfrm>
              <a:off x="6444217" y="1469434"/>
              <a:ext cx="263214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1100" b="1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F66F67F2-609C-5CF8-D2BD-DA2EE34113BC}"/>
                </a:ext>
              </a:extLst>
            </p:cNvPr>
            <p:cNvSpPr/>
            <p:nvPr/>
          </p:nvSpPr>
          <p:spPr>
            <a:xfrm>
              <a:off x="6415167" y="2806276"/>
              <a:ext cx="324000" cy="324000"/>
            </a:xfrm>
            <a:prstGeom prst="ellipse">
              <a:avLst/>
            </a:prstGeom>
            <a:solidFill>
              <a:srgbClr val="16A34A"/>
            </a:solidFill>
            <a:ln w="7620" cap="flat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BDA7EEFC-F6FE-4B93-2118-538E87C84388}"/>
                </a:ext>
              </a:extLst>
            </p:cNvPr>
            <p:cNvSpPr txBox="1"/>
            <p:nvPr/>
          </p:nvSpPr>
          <p:spPr>
            <a:xfrm>
              <a:off x="6443789" y="2845421"/>
              <a:ext cx="263214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1100" b="1" dirty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634ED989-5C67-719B-E26C-C1FB934ADD14}"/>
                </a:ext>
              </a:extLst>
            </p:cNvPr>
            <p:cNvSpPr txBox="1"/>
            <p:nvPr/>
          </p:nvSpPr>
          <p:spPr>
            <a:xfrm>
              <a:off x="3122649" y="315935"/>
              <a:ext cx="2127505" cy="2308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Installing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and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loading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fr-FR" sz="900" b="1" dirty="0" err="1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diagFDR</a:t>
              </a:r>
              <a:r>
                <a:rPr lang="fr-FR" sz="900" b="1" dirty="0">
                  <a:ln/>
                  <a:solidFill>
                    <a:srgbClr val="0B1220"/>
                  </a:solidFill>
                  <a:latin typeface="Arial"/>
                  <a:cs typeface="Arial"/>
                  <a:sym typeface="Arial"/>
                  <a:rtl val="0"/>
                </a:rPr>
                <a:t> in R</a:t>
              </a:r>
            </a:p>
          </p:txBody>
        </p:sp>
      </p:grpSp>
      <p:sp>
        <p:nvSpPr>
          <p:cNvPr id="136" name="ZoneTexte 135">
            <a:extLst>
              <a:ext uri="{FF2B5EF4-FFF2-40B4-BE49-F238E27FC236}">
                <a16:creationId xmlns:a16="http://schemas.microsoft.com/office/drawing/2014/main" id="{BC48EDDA-A5C7-17DA-DF8B-3C671FC0EE19}"/>
              </a:ext>
            </a:extLst>
          </p:cNvPr>
          <p:cNvSpPr txBox="1"/>
          <p:nvPr/>
        </p:nvSpPr>
        <p:spPr>
          <a:xfrm>
            <a:off x="6941405" y="2909456"/>
            <a:ext cx="205056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900" dirty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single entry point </a:t>
            </a:r>
            <a:r>
              <a:rPr lang="fr-FR" sz="900" dirty="0" err="1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with</a:t>
            </a:r>
            <a:r>
              <a:rPr lang="fr-FR" sz="900" dirty="0">
                <a:ln/>
                <a:solidFill>
                  <a:srgbClr val="475569"/>
                </a:solidFill>
                <a:latin typeface="Arial"/>
                <a:cs typeface="Arial"/>
                <a:sym typeface="Arial"/>
                <a:rtl val="0"/>
              </a:rPr>
              <a:t> all diagnostics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F49EB25-F0BA-783C-C051-F08CA52AD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6667" y="3703320"/>
            <a:ext cx="3931920" cy="20523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198C67-9E08-F6C0-2E09-E302F929EEA8}"/>
              </a:ext>
            </a:extLst>
          </p:cNvPr>
          <p:cNvSpPr txBox="1"/>
          <p:nvPr/>
        </p:nvSpPr>
        <p:spPr>
          <a:xfrm>
            <a:off x="0" y="3409667"/>
            <a:ext cx="4487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000" b="1" dirty="0">
                <a:ln/>
                <a:solidFill>
                  <a:srgbClr val="0B122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A378FBB-6BEA-706B-8539-2CDC127F1F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76667" y="5847135"/>
            <a:ext cx="3931920" cy="1296237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F71F08FA-6DA1-DBFE-B74A-94101176F349}"/>
              </a:ext>
            </a:extLst>
          </p:cNvPr>
          <p:cNvGrpSpPr/>
          <p:nvPr/>
        </p:nvGrpSpPr>
        <p:grpSpPr>
          <a:xfrm>
            <a:off x="288658" y="4145430"/>
            <a:ext cx="3812470" cy="2818670"/>
            <a:chOff x="180450" y="3905251"/>
            <a:chExt cx="3999392" cy="2956868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CFEDEAD-B358-7570-DF76-A41914BB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80450" y="3905251"/>
              <a:ext cx="3999392" cy="3162019"/>
            </a:xfrm>
            <a:prstGeom prst="rect">
              <a:avLst/>
            </a:prstGeom>
          </p:spPr>
        </p:pic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F2CB17B1-2706-52BB-46DE-D85F057E5D66}"/>
                </a:ext>
              </a:extLst>
            </p:cNvPr>
            <p:cNvCxnSpPr>
              <a:cxnSpLocks/>
            </p:cNvCxnSpPr>
            <p:nvPr/>
          </p:nvCxnSpPr>
          <p:spPr>
            <a:xfrm>
              <a:off x="2048200" y="4343400"/>
              <a:ext cx="204469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 : en arc 14">
              <a:extLst>
                <a:ext uri="{FF2B5EF4-FFF2-40B4-BE49-F238E27FC236}">
                  <a16:creationId xmlns:a16="http://schemas.microsoft.com/office/drawing/2014/main" id="{04AD4046-327B-EEA1-3F4C-A888CD52F424}"/>
                </a:ext>
              </a:extLst>
            </p:cNvPr>
            <p:cNvCxnSpPr/>
            <p:nvPr/>
          </p:nvCxnSpPr>
          <p:spPr>
            <a:xfrm>
              <a:off x="2048200" y="4572000"/>
              <a:ext cx="2044691" cy="1512277"/>
            </a:xfrm>
            <a:prstGeom prst="curvedConnector3">
              <a:avLst>
                <a:gd name="adj1" fmla="val 629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24658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</TotalTime>
  <Words>219</Words>
  <Application>Microsoft Office PowerPoint</Application>
  <PresentationFormat>Personnalisé</PresentationFormat>
  <Paragraphs>36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Quentin  GIAI GIANETTO</dc:creator>
  <cp:lastModifiedBy>Quentin  GIAI GIANETTO</cp:lastModifiedBy>
  <cp:revision>8</cp:revision>
  <dcterms:created xsi:type="dcterms:W3CDTF">2026-02-26T10:02:31Z</dcterms:created>
  <dcterms:modified xsi:type="dcterms:W3CDTF">2026-03-17T15:32:14Z</dcterms:modified>
</cp:coreProperties>
</file>