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3716000" cy="86868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716000" cy="8686800"/>
            <a:chOff x="0" y="0"/>
            <a:chExt cx="13716000" cy="86868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716000" cy="8686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3716000" cy="8686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7092372" cy="44571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52856" y="756220"/>
              <a:ext cx="2988126" cy="29248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52856" y="3681054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52856" y="273755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52856" y="1794064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52856" y="85056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13130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46920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80709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309649" y="2736980"/>
              <a:ext cx="606963" cy="944073"/>
            </a:xfrm>
            <a:prstGeom prst="rect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243438" y="2737632"/>
              <a:ext cx="606963" cy="943422"/>
            </a:xfrm>
            <a:prstGeom prst="rect">
              <a:avLst/>
            </a:prstGeom>
            <a:solidFill>
              <a:srgbClr val="0E9F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177227" y="1576757"/>
              <a:ext cx="606963" cy="2104297"/>
            </a:xfrm>
            <a:prstGeom prst="rect">
              <a:avLst/>
            </a:prstGeom>
            <a:solidFill>
              <a:srgbClr val="D35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52856" y="273755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1353889" y="2375266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T=83,149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428875" y="2499135"/>
              <a:ext cx="368509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D=832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446682" y="2612310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254343" y="2375918"/>
              <a:ext cx="585154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T=375,129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2674" y="2489093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D=3,751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80471" y="2612962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221468" y="1215043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T=89,718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246463" y="1328218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D=2,001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314260" y="1452086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2.23%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1052856" y="756220"/>
              <a:ext cx="2988126" cy="292483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110572" y="756220"/>
              <a:ext cx="2988126" cy="29248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10572" y="3681054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10572" y="273755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10572" y="1794064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10572" y="85056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70845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635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538424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367364" y="2737523"/>
              <a:ext cx="606963" cy="943531"/>
            </a:xfrm>
            <a:prstGeom prst="rect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301153" y="2737663"/>
              <a:ext cx="606963" cy="943390"/>
            </a:xfrm>
            <a:prstGeom prst="rect">
              <a:avLst/>
            </a:prstGeom>
            <a:solidFill>
              <a:srgbClr val="0E9F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234943" y="1719453"/>
              <a:ext cx="606963" cy="1961601"/>
            </a:xfrm>
            <a:prstGeom prst="rect">
              <a:avLst/>
            </a:prstGeom>
            <a:solidFill>
              <a:srgbClr val="D35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110572" y="2737559"/>
              <a:ext cx="2988126" cy="0"/>
            </a:xfrm>
            <a:custGeom>
              <a:avLst/>
              <a:pathLst>
                <a:path w="2988126" h="0">
                  <a:moveTo>
                    <a:pt x="0" y="0"/>
                  </a:moveTo>
                  <a:lnTo>
                    <a:pt x="2988126" y="0"/>
                  </a:lnTo>
                  <a:lnTo>
                    <a:pt x="298812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411604" y="2375809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T=78,097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486590" y="2499678"/>
              <a:ext cx="368509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D=781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04397" y="2612853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312058" y="2375950"/>
              <a:ext cx="585154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T=343,238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370389" y="2489124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D=3,432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438186" y="2612993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279183" y="1357739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T=85,711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304178" y="1470914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D=1,782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371976" y="1594783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2.08%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4110572" y="756220"/>
              <a:ext cx="2988126" cy="292483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52856" y="540157"/>
              <a:ext cx="2988126" cy="216062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398979" y="602431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4110572" y="540157"/>
              <a:ext cx="2988126" cy="216062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5263079" y="580767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1613130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46920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480709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 rot="-1200000">
              <a:off x="374218" y="3946650"/>
              <a:ext cx="1286944" cy="849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list (Global.Q.Value)</a:t>
              </a:r>
            </a:p>
          </p:txBody>
        </p:sp>
        <p:sp>
          <p:nvSpPr>
            <p:cNvPr id="58" name="tx58"/>
            <p:cNvSpPr/>
            <p:nvPr/>
          </p:nvSpPr>
          <p:spPr>
            <a:xfrm rot="-1200000">
              <a:off x="145235" y="4082641"/>
              <a:ext cx="1558044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experiment-wide scope)</a:t>
              </a:r>
            </a:p>
          </p:txBody>
        </p:sp>
        <p:sp>
          <p:nvSpPr>
            <p:cNvPr id="59" name="tx59"/>
            <p:cNvSpPr/>
            <p:nvPr/>
          </p:nvSpPr>
          <p:spPr>
            <a:xfrm rot="-1200000">
              <a:off x="1223410" y="3954312"/>
              <a:ext cx="1372892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Run×precursor list (Q.Value)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1466669" y="4014289"/>
              <a:ext cx="1158347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run-wise scope)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2556210" y="3883955"/>
              <a:ext cx="961476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precursor list</a:t>
              </a:r>
            </a:p>
          </p:txBody>
        </p:sp>
        <p:sp>
          <p:nvSpPr>
            <p:cNvPr id="62" name="tx62"/>
            <p:cNvSpPr/>
            <p:nvPr/>
          </p:nvSpPr>
          <p:spPr>
            <a:xfrm rot="-1200000">
              <a:off x="2079030" y="4070965"/>
              <a:ext cx="1489769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from Q.Value (min-q over runs)</a:t>
              </a:r>
            </a:p>
          </p:txBody>
        </p:sp>
        <p:sp>
          <p:nvSpPr>
            <p:cNvPr id="63" name="pl63"/>
            <p:cNvSpPr/>
            <p:nvPr/>
          </p:nvSpPr>
          <p:spPr>
            <a:xfrm>
              <a:off x="4670845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04635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38424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 rot="-1200000">
              <a:off x="3431933" y="3946650"/>
              <a:ext cx="1286944" cy="849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list (Global.Q.Value)</a:t>
              </a:r>
            </a:p>
          </p:txBody>
        </p:sp>
        <p:sp>
          <p:nvSpPr>
            <p:cNvPr id="67" name="tx67"/>
            <p:cNvSpPr/>
            <p:nvPr/>
          </p:nvSpPr>
          <p:spPr>
            <a:xfrm rot="-1200000">
              <a:off x="3202951" y="4082641"/>
              <a:ext cx="1558044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experiment-wide scope)</a:t>
              </a:r>
            </a:p>
          </p:txBody>
        </p:sp>
        <p:sp>
          <p:nvSpPr>
            <p:cNvPr id="68" name="tx68"/>
            <p:cNvSpPr/>
            <p:nvPr/>
          </p:nvSpPr>
          <p:spPr>
            <a:xfrm rot="-1200000">
              <a:off x="4281125" y="3954312"/>
              <a:ext cx="1372892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Run×precursor list (Q.Value)</a:t>
              </a:r>
            </a:p>
          </p:txBody>
        </p:sp>
        <p:sp>
          <p:nvSpPr>
            <p:cNvPr id="69" name="tx69"/>
            <p:cNvSpPr/>
            <p:nvPr/>
          </p:nvSpPr>
          <p:spPr>
            <a:xfrm rot="-1200000">
              <a:off x="4524384" y="4014289"/>
              <a:ext cx="1158347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run-wise scope)</a:t>
              </a:r>
            </a:p>
          </p:txBody>
        </p:sp>
        <p:sp>
          <p:nvSpPr>
            <p:cNvPr id="70" name="tx70"/>
            <p:cNvSpPr/>
            <p:nvPr/>
          </p:nvSpPr>
          <p:spPr>
            <a:xfrm rot="-1200000">
              <a:off x="5613925" y="3883955"/>
              <a:ext cx="961476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precursor list</a:t>
              </a:r>
            </a:p>
          </p:txBody>
        </p:sp>
        <p:sp>
          <p:nvSpPr>
            <p:cNvPr id="71" name="tx71"/>
            <p:cNvSpPr/>
            <p:nvPr/>
          </p:nvSpPr>
          <p:spPr>
            <a:xfrm rot="-1200000">
              <a:off x="5136746" y="4070965"/>
              <a:ext cx="1489769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from Q.Value (min-q over runs)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19121" y="363726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919121" y="269682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919121" y="1751854"/>
              <a:ext cx="71105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19121" y="80677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76" name="pl76"/>
            <p:cNvSpPr/>
            <p:nvPr/>
          </p:nvSpPr>
          <p:spPr>
            <a:xfrm>
              <a:off x="1018062" y="3681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18062" y="27375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018062" y="17940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018062" y="8505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 rot="-5400000">
              <a:off x="64367" y="2151038"/>
              <a:ext cx="1091133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 ratio (%)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052856" y="332902"/>
              <a:ext cx="3460377" cy="1112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Bars show Dα/Tα; dashed line is the nominal 1% claim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052856" y="101598"/>
              <a:ext cx="4293765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A. Scope audit at α = 1%: recomputed decoy ratio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7161961" y="69589"/>
              <a:ext cx="6484449" cy="44571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530980" y="756220"/>
              <a:ext cx="6045841" cy="29248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530980" y="3681054"/>
              <a:ext cx="6045841" cy="0"/>
            </a:xfrm>
            <a:custGeom>
              <a:avLst/>
              <a:pathLst>
                <a:path w="6045841" h="0">
                  <a:moveTo>
                    <a:pt x="0" y="0"/>
                  </a:moveTo>
                  <a:lnTo>
                    <a:pt x="6045841" y="0"/>
                  </a:lnTo>
                  <a:lnTo>
                    <a:pt x="60458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530980" y="2794741"/>
              <a:ext cx="6045841" cy="0"/>
            </a:xfrm>
            <a:custGeom>
              <a:avLst/>
              <a:pathLst>
                <a:path w="6045841" h="0">
                  <a:moveTo>
                    <a:pt x="0" y="0"/>
                  </a:moveTo>
                  <a:lnTo>
                    <a:pt x="6045841" y="0"/>
                  </a:lnTo>
                  <a:lnTo>
                    <a:pt x="60458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530980" y="1908427"/>
              <a:ext cx="6045841" cy="0"/>
            </a:xfrm>
            <a:custGeom>
              <a:avLst/>
              <a:pathLst>
                <a:path w="6045841" h="0">
                  <a:moveTo>
                    <a:pt x="0" y="0"/>
                  </a:moveTo>
                  <a:lnTo>
                    <a:pt x="6045841" y="0"/>
                  </a:lnTo>
                  <a:lnTo>
                    <a:pt x="60458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530980" y="1022114"/>
              <a:ext cx="6045841" cy="0"/>
            </a:xfrm>
            <a:custGeom>
              <a:avLst/>
              <a:pathLst>
                <a:path w="6045841" h="0">
                  <a:moveTo>
                    <a:pt x="0" y="0"/>
                  </a:moveTo>
                  <a:lnTo>
                    <a:pt x="6045841" y="0"/>
                  </a:lnTo>
                  <a:lnTo>
                    <a:pt x="60458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664575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10553901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2443226" y="756220"/>
              <a:ext cx="0" cy="2924834"/>
            </a:xfrm>
            <a:custGeom>
              <a:avLst/>
              <a:pathLst>
                <a:path w="0" h="2924834">
                  <a:moveTo>
                    <a:pt x="0" y="29248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8026928" y="3488903"/>
              <a:ext cx="614030" cy="192150"/>
            </a:xfrm>
            <a:prstGeom prst="rect">
              <a:avLst/>
            </a:prstGeom>
            <a:solidFill>
              <a:srgbClr val="F5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9916253" y="3499268"/>
              <a:ext cx="614030" cy="181785"/>
            </a:xfrm>
            <a:prstGeom prst="rect">
              <a:avLst/>
            </a:prstGeom>
            <a:solidFill>
              <a:srgbClr val="F5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1805579" y="3336851"/>
              <a:ext cx="614030" cy="344203"/>
            </a:xfrm>
            <a:prstGeom prst="rect">
              <a:avLst/>
            </a:prstGeom>
            <a:solidFill>
              <a:srgbClr val="F5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8688192" y="2795207"/>
              <a:ext cx="614030" cy="885846"/>
            </a:xfrm>
            <a:prstGeom prst="rect">
              <a:avLst/>
            </a:prstGeom>
            <a:solidFill>
              <a:srgbClr val="2E86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0577517" y="2794609"/>
              <a:ext cx="614030" cy="886444"/>
            </a:xfrm>
            <a:prstGeom prst="rect">
              <a:avLst/>
            </a:prstGeom>
            <a:solidFill>
              <a:srgbClr val="2E86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12466843" y="1738620"/>
              <a:ext cx="614030" cy="1942433"/>
            </a:xfrm>
            <a:prstGeom prst="rect">
              <a:avLst/>
            </a:prstGeom>
            <a:solidFill>
              <a:srgbClr val="2E86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263094" y="3458475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33943" y="3458475"/>
              <a:ext cx="0" cy="56704"/>
            </a:xfrm>
            <a:custGeom>
              <a:avLst/>
              <a:pathLst>
                <a:path w="0" h="56704">
                  <a:moveTo>
                    <a:pt x="0" y="0"/>
                  </a:moveTo>
                  <a:lnTo>
                    <a:pt x="0" y="567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263094" y="3515180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0152419" y="3485892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0223269" y="3485892"/>
              <a:ext cx="0" cy="25837"/>
            </a:xfrm>
            <a:custGeom>
              <a:avLst/>
              <a:pathLst>
                <a:path w="0" h="25837">
                  <a:moveTo>
                    <a:pt x="0" y="0"/>
                  </a:moveTo>
                  <a:lnTo>
                    <a:pt x="0" y="258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0152419" y="3511730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2041744" y="3298474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2112594" y="3298474"/>
              <a:ext cx="0" cy="72916"/>
            </a:xfrm>
            <a:custGeom>
              <a:avLst/>
              <a:pathLst>
                <a:path w="0" h="72916">
                  <a:moveTo>
                    <a:pt x="0" y="0"/>
                  </a:moveTo>
                  <a:lnTo>
                    <a:pt x="0" y="7291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2041744" y="3371391"/>
              <a:ext cx="141699" cy="0"/>
            </a:xfrm>
            <a:custGeom>
              <a:avLst/>
              <a:pathLst>
                <a:path w="141699" h="0">
                  <a:moveTo>
                    <a:pt x="0" y="0"/>
                  </a:moveTo>
                  <a:lnTo>
                    <a:pt x="14169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530980" y="2794741"/>
              <a:ext cx="6045841" cy="0"/>
            </a:xfrm>
            <a:custGeom>
              <a:avLst/>
              <a:pathLst>
                <a:path w="6045841" h="0">
                  <a:moveTo>
                    <a:pt x="0" y="0"/>
                  </a:moveTo>
                  <a:lnTo>
                    <a:pt x="6045841" y="0"/>
                  </a:lnTo>
                  <a:lnTo>
                    <a:pt x="604584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8612727" y="2303342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T=81,643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627724" y="2427211"/>
              <a:ext cx="368509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D=816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629172" y="2543251"/>
              <a:ext cx="354029" cy="7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E=177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631286" y="2653561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10495385" y="2302744"/>
              <a:ext cx="585154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T=370,545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10507052" y="2415919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D=3,706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10518498" y="2539788"/>
              <a:ext cx="354029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E=760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0520611" y="2652962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1.00%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2391378" y="1246755"/>
              <a:ext cx="518482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T=88,064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2396377" y="1359930"/>
              <a:ext cx="468491" cy="899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D=1,930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2407823" y="1483799"/>
              <a:ext cx="354029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E=342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2409936" y="1596974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2.19%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298388" y="3379087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0.22%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0187714" y="3389452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0.21%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2077039" y="3227035"/>
              <a:ext cx="332897" cy="79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0.39%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7530980" y="756220"/>
              <a:ext cx="6045841" cy="292483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7397245" y="363726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397245" y="2754004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397245" y="1866217"/>
              <a:ext cx="71105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7397245" y="97832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28" name="pl128"/>
            <p:cNvSpPr/>
            <p:nvPr/>
          </p:nvSpPr>
          <p:spPr>
            <a:xfrm>
              <a:off x="7496185" y="3681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496185" y="27947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496185" y="19084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496185" y="10221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664575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0553901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2443226" y="368105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 rot="-1200000">
              <a:off x="7425663" y="3946650"/>
              <a:ext cx="1286944" cy="849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list (Global.Q.Value)</a:t>
              </a:r>
            </a:p>
          </p:txBody>
        </p:sp>
        <p:sp>
          <p:nvSpPr>
            <p:cNvPr id="136" name="tx136"/>
            <p:cNvSpPr/>
            <p:nvPr/>
          </p:nvSpPr>
          <p:spPr>
            <a:xfrm rot="-1200000">
              <a:off x="7196681" y="4082641"/>
              <a:ext cx="1558044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experiment-wide scope)</a:t>
              </a:r>
            </a:p>
          </p:txBody>
        </p:sp>
        <p:sp>
          <p:nvSpPr>
            <p:cNvPr id="137" name="tx137"/>
            <p:cNvSpPr/>
            <p:nvPr/>
          </p:nvSpPr>
          <p:spPr>
            <a:xfrm rot="-1200000">
              <a:off x="9230391" y="3954312"/>
              <a:ext cx="1372892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Run×precursor list (Q.Value)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1200000">
              <a:off x="9473650" y="4014289"/>
              <a:ext cx="1158347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(correct run-wise scope)</a:t>
              </a:r>
            </a:p>
          </p:txBody>
        </p:sp>
        <p:sp>
          <p:nvSpPr>
            <p:cNvPr id="139" name="tx139"/>
            <p:cNvSpPr/>
            <p:nvPr/>
          </p:nvSpPr>
          <p:spPr>
            <a:xfrm rot="-1200000">
              <a:off x="11518727" y="3883955"/>
              <a:ext cx="961476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Global precursor list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1200000">
              <a:off x="11041548" y="4070965"/>
              <a:ext cx="1489769" cy="92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from Q.Value (min-q over runs)</a:t>
              </a:r>
            </a:p>
          </p:txBody>
        </p:sp>
        <p:sp>
          <p:nvSpPr>
            <p:cNvPr id="141" name="tx141"/>
            <p:cNvSpPr/>
            <p:nvPr/>
          </p:nvSpPr>
          <p:spPr>
            <a:xfrm rot="-5400000">
              <a:off x="6966406" y="2156427"/>
              <a:ext cx="609550" cy="1244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Rate (%)</a:t>
              </a:r>
            </a:p>
          </p:txBody>
        </p:sp>
        <p:sp>
          <p:nvSpPr>
            <p:cNvPr id="142" name="rc142"/>
            <p:cNvSpPr/>
            <p:nvPr/>
          </p:nvSpPr>
          <p:spPr>
            <a:xfrm>
              <a:off x="7968619" y="93897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977619" y="947975"/>
              <a:ext cx="201455" cy="201455"/>
            </a:xfrm>
            <a:prstGeom prst="rect">
              <a:avLst/>
            </a:prstGeom>
            <a:solidFill>
              <a:srgbClr val="F5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9542698" y="93897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9551698" y="947975"/>
              <a:ext cx="201455" cy="201455"/>
            </a:xfrm>
            <a:prstGeom prst="rect">
              <a:avLst/>
            </a:prstGeom>
            <a:solidFill>
              <a:srgbClr val="2E86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8257665" y="981391"/>
              <a:ext cx="1215444" cy="1080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Entrapment FDP (E/T)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9831743" y="981281"/>
              <a:ext cx="95869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 ratio (D/T)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7530980" y="321243"/>
              <a:ext cx="6163840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Blue: internal decoy ratio (D/T). Orange: external entrapment FDP (E/T) with 95% Wilson interval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530980" y="102789"/>
              <a:ext cx="4383137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C. Scope audit at α = 1% with external entrapment</a:t>
              </a:r>
            </a:p>
          </p:txBody>
        </p:sp>
        <p:sp>
          <p:nvSpPr>
            <p:cNvPr id="150" name="rc150"/>
            <p:cNvSpPr/>
            <p:nvPr/>
          </p:nvSpPr>
          <p:spPr>
            <a:xfrm>
              <a:off x="69589" y="4526690"/>
              <a:ext cx="7107277" cy="40905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052856" y="4997258"/>
              <a:ext cx="6054420" cy="321731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52856" y="8140560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052856" y="7105797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52856" y="6071035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052856" y="5036273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328057" y="4997258"/>
              <a:ext cx="0" cy="3217317"/>
            </a:xfrm>
            <a:custGeom>
              <a:avLst/>
              <a:pathLst>
                <a:path w="0" h="3217317">
                  <a:moveTo>
                    <a:pt x="0" y="32173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995421" y="4997258"/>
              <a:ext cx="0" cy="3217317"/>
            </a:xfrm>
            <a:custGeom>
              <a:avLst/>
              <a:pathLst>
                <a:path w="0" h="3217317">
                  <a:moveTo>
                    <a:pt x="0" y="32173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662786" y="4997258"/>
              <a:ext cx="0" cy="3217317"/>
            </a:xfrm>
            <a:custGeom>
              <a:avLst/>
              <a:pathLst>
                <a:path w="0" h="3217317">
                  <a:moveTo>
                    <a:pt x="0" y="32173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330150" y="4997258"/>
              <a:ext cx="0" cy="3217317"/>
            </a:xfrm>
            <a:custGeom>
              <a:avLst/>
              <a:pathLst>
                <a:path w="0" h="3217317">
                  <a:moveTo>
                    <a:pt x="0" y="32173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662786" y="4997258"/>
              <a:ext cx="0" cy="3217317"/>
            </a:xfrm>
            <a:custGeom>
              <a:avLst/>
              <a:pathLst>
                <a:path w="0" h="3217317">
                  <a:moveTo>
                    <a:pt x="0" y="32173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328057" y="5429024"/>
              <a:ext cx="5504018" cy="2639310"/>
            </a:xfrm>
            <a:custGeom>
              <a:avLst/>
              <a:pathLst>
                <a:path w="5504018" h="2639310">
                  <a:moveTo>
                    <a:pt x="0" y="2639310"/>
                  </a:moveTo>
                  <a:lnTo>
                    <a:pt x="1165437" y="535224"/>
                  </a:lnTo>
                  <a:lnTo>
                    <a:pt x="1667364" y="359139"/>
                  </a:lnTo>
                  <a:lnTo>
                    <a:pt x="2169290" y="128407"/>
                  </a:lnTo>
                  <a:lnTo>
                    <a:pt x="2832801" y="0"/>
                  </a:lnTo>
                  <a:lnTo>
                    <a:pt x="3334728" y="87757"/>
                  </a:lnTo>
                  <a:lnTo>
                    <a:pt x="3836654" y="458504"/>
                  </a:lnTo>
                  <a:lnTo>
                    <a:pt x="4500165" y="566153"/>
                  </a:lnTo>
                  <a:lnTo>
                    <a:pt x="5002092" y="717995"/>
                  </a:lnTo>
                  <a:lnTo>
                    <a:pt x="5504018" y="806903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328057" y="5143500"/>
              <a:ext cx="5504018" cy="1238093"/>
            </a:xfrm>
            <a:custGeom>
              <a:avLst/>
              <a:pathLst>
                <a:path w="5504018" h="1238093">
                  <a:moveTo>
                    <a:pt x="0" y="1238093"/>
                  </a:moveTo>
                  <a:lnTo>
                    <a:pt x="1165437" y="0"/>
                  </a:lnTo>
                  <a:lnTo>
                    <a:pt x="1667364" y="642119"/>
                  </a:lnTo>
                  <a:lnTo>
                    <a:pt x="2169290" y="943986"/>
                  </a:lnTo>
                  <a:lnTo>
                    <a:pt x="2832801" y="885735"/>
                  </a:lnTo>
                  <a:lnTo>
                    <a:pt x="3334728" y="696439"/>
                  </a:lnTo>
                  <a:lnTo>
                    <a:pt x="3836654" y="651285"/>
                  </a:lnTo>
                  <a:lnTo>
                    <a:pt x="4500165" y="802867"/>
                  </a:lnTo>
                  <a:lnTo>
                    <a:pt x="5002092" y="1114752"/>
                  </a:lnTo>
                  <a:lnTo>
                    <a:pt x="5504018" y="716552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293746" y="8034023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459184" y="5929937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961110" y="5753852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463037" y="5523119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126548" y="5394712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628474" y="5482470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130401" y="5853217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793912" y="5960865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295838" y="6112707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797765" y="6201615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1281848" y="6328235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2447285" y="5090141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2949212" y="5732261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3451138" y="6034128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114649" y="5975877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4616576" y="5786581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118502" y="5741427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782013" y="5893009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283940" y="6204893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85867" y="5806694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585132" y="5439128"/>
              <a:ext cx="155306" cy="155306"/>
            </a:xfrm>
            <a:prstGeom prst="ellipse">
              <a:avLst/>
            </a:prstGeom>
            <a:ln w="198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585132" y="5762286"/>
              <a:ext cx="155306" cy="155306"/>
            </a:xfrm>
            <a:prstGeom prst="ellipse">
              <a:avLst/>
            </a:prstGeom>
            <a:ln w="19800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tx185"/>
            <p:cNvSpPr/>
            <p:nvPr/>
          </p:nvSpPr>
          <p:spPr>
            <a:xfrm>
              <a:off x="4771071" y="5367206"/>
              <a:ext cx="433143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F77B4">
                      <a:alpha val="100000"/>
                    </a:srgbClr>
                  </a:solidFill>
                  <a:latin typeface="DejaVu Sans"/>
                  <a:cs typeface="DejaVu Sans"/>
                </a:rPr>
                <a:t>J=0.927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771071" y="5880030"/>
              <a:ext cx="433143" cy="102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E69F00">
                      <a:alpha val="100000"/>
                    </a:srgbClr>
                  </a:solidFill>
                  <a:latin typeface="DejaVu Sans"/>
                  <a:cs typeface="DejaVu Sans"/>
                </a:rPr>
                <a:t>J=0.911</a:t>
              </a:r>
            </a:p>
          </p:txBody>
        </p:sp>
        <p:sp>
          <p:nvSpPr>
            <p:cNvPr id="187" name="rc187"/>
            <p:cNvSpPr/>
            <p:nvPr/>
          </p:nvSpPr>
          <p:spPr>
            <a:xfrm>
              <a:off x="1052856" y="4997258"/>
              <a:ext cx="6054420" cy="3217317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741386" y="809676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0.80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741386" y="7062005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0.85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741386" y="60272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741386" y="4992480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0.95</a:t>
              </a:r>
            </a:p>
          </p:txBody>
        </p:sp>
        <p:sp>
          <p:nvSpPr>
            <p:cNvPr id="192" name="pl192"/>
            <p:cNvSpPr/>
            <p:nvPr/>
          </p:nvSpPr>
          <p:spPr>
            <a:xfrm>
              <a:off x="1018062" y="8140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1018062" y="71057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018062" y="60710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018062" y="503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1328057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995421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4662786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6330150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1150540" y="8274150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853457" y="8274150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4574136" y="8274150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6205948" y="8274150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648654" y="838336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205" name="tx205"/>
            <p:cNvSpPr/>
            <p:nvPr/>
          </p:nvSpPr>
          <p:spPr>
            <a:xfrm rot="-5400000">
              <a:off x="69346" y="6538318"/>
              <a:ext cx="108117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Jaccard overlap</a:t>
              </a:r>
            </a:p>
          </p:txBody>
        </p:sp>
        <p:sp>
          <p:nvSpPr>
            <p:cNvPr id="206" name="rc206"/>
            <p:cNvSpPr/>
            <p:nvPr/>
          </p:nvSpPr>
          <p:spPr>
            <a:xfrm>
              <a:off x="5531403" y="745079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553349" y="756052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606820" y="7526214"/>
              <a:ext cx="68622" cy="68622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563478" y="7482872"/>
              <a:ext cx="155306" cy="155306"/>
            </a:xfrm>
            <a:prstGeom prst="ellipse">
              <a:avLst/>
            </a:prstGeom>
            <a:ln w="198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5531403" y="767025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553349" y="777998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94922" y="7726623"/>
              <a:ext cx="92419" cy="80037"/>
            </a:xfrm>
            <a:custGeom>
              <a:avLst/>
              <a:pathLst>
                <a:path w="92419" h="80037">
                  <a:moveTo>
                    <a:pt x="46209" y="0"/>
                  </a:moveTo>
                  <a:lnTo>
                    <a:pt x="92419" y="80037"/>
                  </a:lnTo>
                  <a:lnTo>
                    <a:pt x="0" y="80037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563478" y="7702328"/>
              <a:ext cx="155306" cy="155306"/>
            </a:xfrm>
            <a:prstGeom prst="ellipse">
              <a:avLst/>
            </a:prstGeom>
            <a:ln w="19800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5820448" y="7514768"/>
              <a:ext cx="295880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Basic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820448" y="7712559"/>
              <a:ext cx="683111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Semi-tryptic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1052856" y="4778345"/>
              <a:ext cx="4119376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Jaccard overlap: Global.Q.Value list vs min-over-runs Q.Value list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052856" y="4558700"/>
              <a:ext cx="2526729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Scope-disagreement curve</a:t>
              </a:r>
            </a:p>
          </p:txBody>
        </p:sp>
        <p:sp>
          <p:nvSpPr>
            <p:cNvPr id="218" name="rc218"/>
            <p:cNvSpPr/>
            <p:nvPr/>
          </p:nvSpPr>
          <p:spPr>
            <a:xfrm>
              <a:off x="7176866" y="4526690"/>
              <a:ext cx="6469544" cy="20686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7522401" y="4997258"/>
              <a:ext cx="6054420" cy="13610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522401" y="6296490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522401" y="5844897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522401" y="5393305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797602" y="4997258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464966" y="4997258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11132330" y="4997258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12799694" y="4997258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1132330" y="4997258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797602" y="5059126"/>
              <a:ext cx="5504018" cy="1237363"/>
            </a:xfrm>
            <a:custGeom>
              <a:avLst/>
              <a:pathLst>
                <a:path w="5504018" h="1237363">
                  <a:moveTo>
                    <a:pt x="0" y="1237363"/>
                  </a:moveTo>
                  <a:lnTo>
                    <a:pt x="1165437" y="1228331"/>
                  </a:lnTo>
                  <a:lnTo>
                    <a:pt x="1667364" y="1210267"/>
                  </a:lnTo>
                  <a:lnTo>
                    <a:pt x="2169290" y="1156076"/>
                  </a:lnTo>
                  <a:lnTo>
                    <a:pt x="2832801" y="1092853"/>
                  </a:lnTo>
                  <a:lnTo>
                    <a:pt x="3334728" y="939312"/>
                  </a:lnTo>
                  <a:lnTo>
                    <a:pt x="3836654" y="776739"/>
                  </a:lnTo>
                  <a:lnTo>
                    <a:pt x="4500165" y="758675"/>
                  </a:lnTo>
                  <a:lnTo>
                    <a:pt x="5002092" y="424496"/>
                  </a:lnTo>
                  <a:lnTo>
                    <a:pt x="5504018" y="0"/>
                  </a:lnTo>
                </a:path>
              </a:pathLst>
            </a:custGeom>
            <a:ln w="24391" cap="flat">
              <a:solidFill>
                <a:srgbClr val="D35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7522401" y="4997258"/>
              <a:ext cx="6054420" cy="136109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7388665" y="625269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317560" y="5801104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7246455" y="534951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7487606" y="62964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7487606" y="58448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487606" y="53933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7797602" y="635835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9464966" y="635835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1132330" y="635835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2799694" y="635835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>
              <a:off x="7620084" y="6417932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9323001" y="6417932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1043680" y="6417932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2675492" y="6417932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7522401" y="4774252"/>
              <a:ext cx="4378089" cy="127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Change in accepted entrapment matches |E((1+ε)α) − E(α)|, ε = 0.2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7522401" y="4558700"/>
              <a:ext cx="4529360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D. Entrapment-based stability to cutoff perturbation</a:t>
              </a:r>
            </a:p>
          </p:txBody>
        </p:sp>
        <p:sp>
          <p:nvSpPr>
            <p:cNvPr id="246" name="rc246"/>
            <p:cNvSpPr/>
            <p:nvPr/>
          </p:nvSpPr>
          <p:spPr>
            <a:xfrm>
              <a:off x="7176866" y="6595297"/>
              <a:ext cx="6469544" cy="2021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7522401" y="6853476"/>
              <a:ext cx="6054420" cy="13610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522401" y="8169126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522401" y="7918369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522401" y="7667613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522401" y="7416857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522401" y="7166100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522401" y="6915344"/>
              <a:ext cx="6054420" cy="0"/>
            </a:xfrm>
            <a:custGeom>
              <a:avLst/>
              <a:pathLst>
                <a:path w="6054420" h="0">
                  <a:moveTo>
                    <a:pt x="0" y="0"/>
                  </a:moveTo>
                  <a:lnTo>
                    <a:pt x="6054420" y="0"/>
                  </a:lnTo>
                  <a:lnTo>
                    <a:pt x="60544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797602" y="6853476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9464966" y="6853476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1132330" y="6853476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2799694" y="6853476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1132330" y="6853476"/>
              <a:ext cx="0" cy="1361099"/>
            </a:xfrm>
            <a:custGeom>
              <a:avLst/>
              <a:pathLst>
                <a:path w="0" h="1361099">
                  <a:moveTo>
                    <a:pt x="0" y="136109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797602" y="6915344"/>
              <a:ext cx="5504018" cy="1237363"/>
            </a:xfrm>
            <a:custGeom>
              <a:avLst/>
              <a:pathLst>
                <a:path w="5504018" h="1237363">
                  <a:moveTo>
                    <a:pt x="0" y="0"/>
                  </a:moveTo>
                  <a:lnTo>
                    <a:pt x="1165437" y="788138"/>
                  </a:lnTo>
                  <a:lnTo>
                    <a:pt x="1667364" y="937858"/>
                  </a:lnTo>
                  <a:lnTo>
                    <a:pt x="2169290" y="1041092"/>
                  </a:lnTo>
                  <a:lnTo>
                    <a:pt x="2832801" y="1125984"/>
                  </a:lnTo>
                  <a:lnTo>
                    <a:pt x="3334728" y="1165999"/>
                  </a:lnTo>
                  <a:lnTo>
                    <a:pt x="3836654" y="1193736"/>
                  </a:lnTo>
                  <a:lnTo>
                    <a:pt x="4500165" y="1217700"/>
                  </a:lnTo>
                  <a:lnTo>
                    <a:pt x="5002092" y="1229405"/>
                  </a:lnTo>
                  <a:lnTo>
                    <a:pt x="5504018" y="1237363"/>
                  </a:lnTo>
                </a:path>
              </a:pathLst>
            </a:custGeom>
            <a:ln w="24391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797602" y="7578087"/>
              <a:ext cx="5504018" cy="523191"/>
            </a:xfrm>
            <a:custGeom>
              <a:avLst/>
              <a:pathLst>
                <a:path w="5504018" h="523191">
                  <a:moveTo>
                    <a:pt x="0" y="0"/>
                  </a:moveTo>
                  <a:lnTo>
                    <a:pt x="1165437" y="189506"/>
                  </a:lnTo>
                  <a:lnTo>
                    <a:pt x="1667364" y="229102"/>
                  </a:lnTo>
                  <a:lnTo>
                    <a:pt x="2169290" y="291327"/>
                  </a:lnTo>
                  <a:lnTo>
                    <a:pt x="2832801" y="350857"/>
                  </a:lnTo>
                  <a:lnTo>
                    <a:pt x="3334728" y="402558"/>
                  </a:lnTo>
                  <a:lnTo>
                    <a:pt x="3836654" y="449753"/>
                  </a:lnTo>
                  <a:lnTo>
                    <a:pt x="4500165" y="496193"/>
                  </a:lnTo>
                  <a:lnTo>
                    <a:pt x="5002092" y="510690"/>
                  </a:lnTo>
                  <a:lnTo>
                    <a:pt x="5504018" y="523191"/>
                  </a:lnTo>
                </a:path>
              </a:pathLst>
            </a:custGeom>
            <a:ln w="24391" cap="flat">
              <a:solidFill>
                <a:srgbClr val="6C5CE7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7522401" y="6853476"/>
              <a:ext cx="6054420" cy="136109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tx262"/>
            <p:cNvSpPr/>
            <p:nvPr/>
          </p:nvSpPr>
          <p:spPr>
            <a:xfrm>
              <a:off x="7282035" y="812533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7282035" y="7874577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7282035" y="7623820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7282035" y="737306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7282035" y="712230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7282035" y="6871551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268" name="pl268"/>
            <p:cNvSpPr/>
            <p:nvPr/>
          </p:nvSpPr>
          <p:spPr>
            <a:xfrm>
              <a:off x="7487606" y="81691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487606" y="79183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487606" y="76676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487606" y="74168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487606" y="71661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487606" y="69153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797602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9464966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11132330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12799694" y="821457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tx278"/>
            <p:cNvSpPr/>
            <p:nvPr/>
          </p:nvSpPr>
          <p:spPr>
            <a:xfrm>
              <a:off x="7620084" y="8274150"/>
              <a:ext cx="35503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9323001" y="8274150"/>
              <a:ext cx="283929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1043680" y="8274150"/>
              <a:ext cx="177298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2675492" y="8274150"/>
              <a:ext cx="248404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10118199" y="8383365"/>
              <a:ext cx="862824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 (log scale)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11681913" y="700908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11703859" y="711881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11681913" y="72285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11703859" y="73382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C5CE7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7" name="tx287"/>
            <p:cNvSpPr/>
            <p:nvPr/>
          </p:nvSpPr>
          <p:spPr>
            <a:xfrm>
              <a:off x="11970958" y="7066239"/>
              <a:ext cx="473561" cy="9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Dα^-1/2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11970958" y="7285695"/>
              <a:ext cx="458117" cy="93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Eα^-1/2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7522401" y="6634563"/>
              <a:ext cx="4455914" cy="122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Decoy-support index Dα^-1/2 and entrapment-support index Eα^-1/2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2026-10-28T09:07:06Z</dcterms:modified>
  <cp:category/>
</cp:coreProperties>
</file>