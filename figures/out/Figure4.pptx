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4630400" cy="77724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4630400" cy="7772400"/>
            <a:chOff x="0" y="0"/>
            <a:chExt cx="14630400" cy="77724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4630400" cy="7772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4630399" cy="7772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5148517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58554" y="540157"/>
              <a:ext cx="3983903" cy="29434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58554" y="3350104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58554" y="2798933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58554" y="2247762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58554" y="1696591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58554" y="1145420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58554" y="594249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39640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36792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33943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31095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39640" y="716719"/>
              <a:ext cx="3621730" cy="2632834"/>
            </a:xfrm>
            <a:custGeom>
              <a:avLst/>
              <a:pathLst>
                <a:path w="3621730" h="2632834">
                  <a:moveTo>
                    <a:pt x="0" y="2632834"/>
                  </a:moveTo>
                  <a:lnTo>
                    <a:pt x="766875" y="2629637"/>
                  </a:lnTo>
                  <a:lnTo>
                    <a:pt x="1097151" y="2625338"/>
                  </a:lnTo>
                  <a:lnTo>
                    <a:pt x="1427427" y="2615968"/>
                  </a:lnTo>
                  <a:lnTo>
                    <a:pt x="1864027" y="2586976"/>
                  </a:lnTo>
                  <a:lnTo>
                    <a:pt x="2194303" y="2535938"/>
                  </a:lnTo>
                  <a:lnTo>
                    <a:pt x="2524578" y="2428680"/>
                  </a:lnTo>
                  <a:lnTo>
                    <a:pt x="2961178" y="2082875"/>
                  </a:lnTo>
                  <a:lnTo>
                    <a:pt x="3291454" y="1451564"/>
                  </a:lnTo>
                  <a:lnTo>
                    <a:pt x="3621730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39640" y="681003"/>
              <a:ext cx="3621730" cy="2668770"/>
            </a:xfrm>
            <a:custGeom>
              <a:avLst/>
              <a:pathLst>
                <a:path w="3621730" h="2668770">
                  <a:moveTo>
                    <a:pt x="0" y="2668770"/>
                  </a:moveTo>
                  <a:lnTo>
                    <a:pt x="766875" y="2665904"/>
                  </a:lnTo>
                  <a:lnTo>
                    <a:pt x="1097151" y="2662046"/>
                  </a:lnTo>
                  <a:lnTo>
                    <a:pt x="1427427" y="2653668"/>
                  </a:lnTo>
                  <a:lnTo>
                    <a:pt x="1864027" y="2625999"/>
                  </a:lnTo>
                  <a:lnTo>
                    <a:pt x="2194303" y="2577386"/>
                  </a:lnTo>
                  <a:lnTo>
                    <a:pt x="2524578" y="2473655"/>
                  </a:lnTo>
                  <a:lnTo>
                    <a:pt x="2961178" y="2123111"/>
                  </a:lnTo>
                  <a:lnTo>
                    <a:pt x="3291454" y="1470524"/>
                  </a:lnTo>
                  <a:lnTo>
                    <a:pt x="3621730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39640" y="795757"/>
              <a:ext cx="3621730" cy="2553134"/>
            </a:xfrm>
            <a:custGeom>
              <a:avLst/>
              <a:pathLst>
                <a:path w="3621730" h="2553134">
                  <a:moveTo>
                    <a:pt x="0" y="2553134"/>
                  </a:moveTo>
                  <a:lnTo>
                    <a:pt x="766875" y="2550048"/>
                  </a:lnTo>
                  <a:lnTo>
                    <a:pt x="1097151" y="2545638"/>
                  </a:lnTo>
                  <a:lnTo>
                    <a:pt x="1427427" y="2536489"/>
                  </a:lnTo>
                  <a:lnTo>
                    <a:pt x="1864027" y="2507938"/>
                  </a:lnTo>
                  <a:lnTo>
                    <a:pt x="2194303" y="2457451"/>
                  </a:lnTo>
                  <a:lnTo>
                    <a:pt x="2524578" y="2351736"/>
                  </a:lnTo>
                  <a:lnTo>
                    <a:pt x="2961178" y="2016955"/>
                  </a:lnTo>
                  <a:lnTo>
                    <a:pt x="3291454" y="1411990"/>
                  </a:lnTo>
                  <a:lnTo>
                    <a:pt x="3621730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39640" y="673948"/>
              <a:ext cx="3621730" cy="2675825"/>
            </a:xfrm>
            <a:custGeom>
              <a:avLst/>
              <a:pathLst>
                <a:path w="3621730" h="2675825">
                  <a:moveTo>
                    <a:pt x="0" y="2675825"/>
                  </a:moveTo>
                  <a:lnTo>
                    <a:pt x="766875" y="2673510"/>
                  </a:lnTo>
                  <a:lnTo>
                    <a:pt x="1097151" y="2670093"/>
                  </a:lnTo>
                  <a:lnTo>
                    <a:pt x="1427427" y="2662597"/>
                  </a:lnTo>
                  <a:lnTo>
                    <a:pt x="1864027" y="2637133"/>
                  </a:lnTo>
                  <a:lnTo>
                    <a:pt x="2194303" y="2590063"/>
                  </a:lnTo>
                  <a:lnTo>
                    <a:pt x="2524578" y="2487986"/>
                  </a:lnTo>
                  <a:lnTo>
                    <a:pt x="2961178" y="2147583"/>
                  </a:lnTo>
                  <a:lnTo>
                    <a:pt x="3291454" y="1504476"/>
                  </a:lnTo>
                  <a:lnTo>
                    <a:pt x="3621730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908039" y="331817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674915" y="331530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005190" y="331144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335466" y="3303070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72066" y="327540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102342" y="322678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432617" y="312305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869218" y="277251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199493" y="211992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529769" y="64940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897080" y="330063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663956" y="329831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994232" y="329489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324507" y="328740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761108" y="326193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091383" y="321486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421659" y="311279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858259" y="277238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4188535" y="212928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4518810" y="62480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908039" y="331795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674915" y="3314755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005190" y="331045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335466" y="330108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772066" y="3272094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102342" y="322105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32617" y="311379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69218" y="276799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199493" y="213668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529769" y="68511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897080" y="329974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1663956" y="329666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1994232" y="329225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324507" y="328310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761108" y="325455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091383" y="320406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3421659" y="309835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858259" y="276356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4188535" y="215860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4518810" y="74661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939640" y="1277163"/>
              <a:ext cx="3621730" cy="2042951"/>
            </a:xfrm>
            <a:custGeom>
              <a:avLst/>
              <a:pathLst>
                <a:path w="3621730" h="2042951">
                  <a:moveTo>
                    <a:pt x="0" y="0"/>
                  </a:moveTo>
                  <a:lnTo>
                    <a:pt x="766875" y="1278004"/>
                  </a:lnTo>
                  <a:lnTo>
                    <a:pt x="1097151" y="1530428"/>
                  </a:lnTo>
                  <a:lnTo>
                    <a:pt x="1427427" y="1704181"/>
                  </a:lnTo>
                  <a:lnTo>
                    <a:pt x="1864027" y="1847034"/>
                  </a:lnTo>
                  <a:lnTo>
                    <a:pt x="2194303" y="1917041"/>
                  </a:lnTo>
                  <a:lnTo>
                    <a:pt x="2524578" y="1965377"/>
                  </a:lnTo>
                  <a:lnTo>
                    <a:pt x="2961178" y="2007350"/>
                  </a:lnTo>
                  <a:lnTo>
                    <a:pt x="3291454" y="2028175"/>
                  </a:lnTo>
                  <a:lnTo>
                    <a:pt x="3621730" y="2042951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39640" y="673948"/>
              <a:ext cx="3621730" cy="2646367"/>
            </a:xfrm>
            <a:custGeom>
              <a:avLst/>
              <a:pathLst>
                <a:path w="3621730" h="2646367">
                  <a:moveTo>
                    <a:pt x="0" y="0"/>
                  </a:moveTo>
                  <a:lnTo>
                    <a:pt x="766875" y="1815414"/>
                  </a:lnTo>
                  <a:lnTo>
                    <a:pt x="1097151" y="2096751"/>
                  </a:lnTo>
                  <a:lnTo>
                    <a:pt x="1427427" y="2284407"/>
                  </a:lnTo>
                  <a:lnTo>
                    <a:pt x="1864027" y="2441742"/>
                  </a:lnTo>
                  <a:lnTo>
                    <a:pt x="2194303" y="2515458"/>
                  </a:lnTo>
                  <a:lnTo>
                    <a:pt x="2524578" y="2566073"/>
                  </a:lnTo>
                  <a:lnTo>
                    <a:pt x="2961178" y="2610293"/>
                  </a:lnTo>
                  <a:lnTo>
                    <a:pt x="3291454" y="2631703"/>
                  </a:lnTo>
                  <a:lnTo>
                    <a:pt x="3621730" y="2646367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939640" y="1952527"/>
              <a:ext cx="3621730" cy="1367126"/>
            </a:xfrm>
            <a:custGeom>
              <a:avLst/>
              <a:pathLst>
                <a:path w="3621730" h="1367126">
                  <a:moveTo>
                    <a:pt x="0" y="0"/>
                  </a:moveTo>
                  <a:lnTo>
                    <a:pt x="766875" y="655344"/>
                  </a:lnTo>
                  <a:lnTo>
                    <a:pt x="1097151" y="876071"/>
                  </a:lnTo>
                  <a:lnTo>
                    <a:pt x="1427427" y="1033398"/>
                  </a:lnTo>
                  <a:lnTo>
                    <a:pt x="1864027" y="1171669"/>
                  </a:lnTo>
                  <a:lnTo>
                    <a:pt x="2194303" y="1241234"/>
                  </a:lnTo>
                  <a:lnTo>
                    <a:pt x="2524578" y="1289458"/>
                  </a:lnTo>
                  <a:lnTo>
                    <a:pt x="2961178" y="1331189"/>
                  </a:lnTo>
                  <a:lnTo>
                    <a:pt x="3291454" y="1352043"/>
                  </a:lnTo>
                  <a:lnTo>
                    <a:pt x="3621730" y="1367126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939640" y="673948"/>
              <a:ext cx="3621730" cy="2646407"/>
            </a:xfrm>
            <a:custGeom>
              <a:avLst/>
              <a:pathLst>
                <a:path w="3621730" h="2646407">
                  <a:moveTo>
                    <a:pt x="0" y="0"/>
                  </a:moveTo>
                  <a:lnTo>
                    <a:pt x="766875" y="1729992"/>
                  </a:lnTo>
                  <a:lnTo>
                    <a:pt x="1097151" y="2051140"/>
                  </a:lnTo>
                  <a:lnTo>
                    <a:pt x="1427427" y="2258210"/>
                  </a:lnTo>
                  <a:lnTo>
                    <a:pt x="1864027" y="2429796"/>
                  </a:lnTo>
                  <a:lnTo>
                    <a:pt x="2194303" y="2510294"/>
                  </a:lnTo>
                  <a:lnTo>
                    <a:pt x="2524578" y="2563965"/>
                  </a:lnTo>
                  <a:lnTo>
                    <a:pt x="2961178" y="2609217"/>
                  </a:lnTo>
                  <a:lnTo>
                    <a:pt x="3291454" y="2631196"/>
                  </a:lnTo>
                  <a:lnTo>
                    <a:pt x="3621730" y="2646407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908039" y="642347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674915" y="245776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005190" y="273909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335466" y="2926754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772066" y="3084089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102342" y="3157805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432617" y="320842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869218" y="325264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199493" y="3274050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29769" y="3288715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897080" y="62480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1663956" y="2354796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1994232" y="267594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2324507" y="288301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2761108" y="305460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091383" y="313509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421659" y="318877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858259" y="323402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4188535" y="325600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4518810" y="327121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908039" y="124556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674915" y="252356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005190" y="2775989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335466" y="294974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772066" y="3092595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102342" y="316260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432617" y="3210939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869218" y="325291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199493" y="327373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529769" y="328851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897080" y="190338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1663956" y="255872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1994232" y="277945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2324507" y="293678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2761108" y="307505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3091383" y="314461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3421659" y="319284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3858259" y="323457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4188535" y="325542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4518810" y="327051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58554" y="540157"/>
              <a:ext cx="3983903" cy="294340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6"/>
            <p:cNvSpPr/>
            <p:nvPr/>
          </p:nvSpPr>
          <p:spPr>
            <a:xfrm>
              <a:off x="624818" y="3306312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375978" y="2743735"/>
              <a:ext cx="319945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5,000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304873" y="2192564"/>
              <a:ext cx="391050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10,000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304873" y="1641393"/>
              <a:ext cx="391050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15,000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04873" y="1090222"/>
              <a:ext cx="391050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20,000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304873" y="539051"/>
              <a:ext cx="391050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25,000</a:t>
              </a:r>
            </a:p>
          </p:txBody>
        </p:sp>
        <p:sp>
          <p:nvSpPr>
            <p:cNvPr id="112" name="pl112"/>
            <p:cNvSpPr/>
            <p:nvPr/>
          </p:nvSpPr>
          <p:spPr>
            <a:xfrm>
              <a:off x="723759" y="33501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723759" y="27989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723759" y="22477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723759" y="16965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723759" y="11454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723759" y="5942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742457" y="33501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742457" y="24230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742457" y="149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742457" y="5689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4805087" y="3306312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4805087" y="237926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4805087" y="145221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4805087" y="525168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26" name="pl126"/>
            <p:cNvSpPr/>
            <p:nvPr/>
          </p:nvSpPr>
          <p:spPr>
            <a:xfrm>
              <a:off x="939640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036792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3133943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231095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762123" y="3543139"/>
              <a:ext cx="35503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1894827" y="3543139"/>
              <a:ext cx="283929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045294" y="3543139"/>
              <a:ext cx="177298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106893" y="3543139"/>
              <a:ext cx="24840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2704461" y="3707743"/>
              <a:ext cx="92087" cy="7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89416" y="1960087"/>
              <a:ext cx="199659" cy="103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Dα</a:t>
              </a:r>
            </a:p>
          </p:txBody>
        </p:sp>
        <p:sp>
          <p:nvSpPr>
            <p:cNvPr id="136" name="tx136"/>
            <p:cNvSpPr/>
            <p:nvPr/>
          </p:nvSpPr>
          <p:spPr>
            <a:xfrm rot="5400000">
              <a:off x="4779963" y="1953539"/>
              <a:ext cx="591951" cy="1166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Dα^-1/2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3250607" y="11394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272553" y="124915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72553" y="124915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3250607" y="13588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272553" y="146861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272553" y="146861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3539652" y="1181736"/>
              <a:ext cx="534734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First pass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3539652" y="1401192"/>
              <a:ext cx="70270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Second pass</a:t>
              </a:r>
            </a:p>
          </p:txBody>
        </p:sp>
        <p:sp>
          <p:nvSpPr>
            <p:cNvPr id="145" name="rc145"/>
            <p:cNvSpPr/>
            <p:nvPr/>
          </p:nvSpPr>
          <p:spPr>
            <a:xfrm>
              <a:off x="3250607" y="1926287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272553" y="203601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328734" y="2004414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272553" y="203601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328734" y="2004414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3250607" y="214574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272553" y="225547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3317776" y="220632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272553" y="225547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3317776" y="220632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tx155"/>
            <p:cNvSpPr/>
            <p:nvPr/>
          </p:nvSpPr>
          <p:spPr>
            <a:xfrm>
              <a:off x="3539652" y="1990258"/>
              <a:ext cx="295880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Basic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3539652" y="2188049"/>
              <a:ext cx="68311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Semi-tryptic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758554" y="321243"/>
              <a:ext cx="2414178" cy="122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Dα (left axis) and Dα^-1/2 (right axis)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758554" y="101598"/>
              <a:ext cx="3097485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A. Decoy support and support index</a:t>
              </a:r>
            </a:p>
          </p:txBody>
        </p:sp>
        <p:sp>
          <p:nvSpPr>
            <p:cNvPr id="159" name="rc159"/>
            <p:cNvSpPr/>
            <p:nvPr/>
          </p:nvSpPr>
          <p:spPr>
            <a:xfrm>
              <a:off x="5218106" y="69589"/>
              <a:ext cx="4671352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5835966" y="540157"/>
              <a:ext cx="3983903" cy="29434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835966" y="3349774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835966" y="2640718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835966" y="1931662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835966" y="1222606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017053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7114204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211356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9308507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6017053" y="673948"/>
              <a:ext cx="3621730" cy="2675825"/>
            </a:xfrm>
            <a:custGeom>
              <a:avLst/>
              <a:pathLst>
                <a:path w="3621730" h="2675825">
                  <a:moveTo>
                    <a:pt x="0" y="2675825"/>
                  </a:moveTo>
                  <a:lnTo>
                    <a:pt x="766875" y="2076603"/>
                  </a:lnTo>
                  <a:lnTo>
                    <a:pt x="1097151" y="1841911"/>
                  </a:lnTo>
                  <a:lnTo>
                    <a:pt x="1427427" y="1599114"/>
                  </a:lnTo>
                  <a:lnTo>
                    <a:pt x="1864027" y="1286755"/>
                  </a:lnTo>
                  <a:lnTo>
                    <a:pt x="2194303" y="1061686"/>
                  </a:lnTo>
                  <a:lnTo>
                    <a:pt x="2524578" y="830819"/>
                  </a:lnTo>
                  <a:lnTo>
                    <a:pt x="2961178" y="517076"/>
                  </a:lnTo>
                  <a:lnTo>
                    <a:pt x="3291454" y="275621"/>
                  </a:lnTo>
                  <a:lnTo>
                    <a:pt x="3621730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6017053" y="681877"/>
              <a:ext cx="3621730" cy="2667896"/>
            </a:xfrm>
            <a:custGeom>
              <a:avLst/>
              <a:pathLst>
                <a:path w="3621730" h="2667896">
                  <a:moveTo>
                    <a:pt x="0" y="2667896"/>
                  </a:moveTo>
                  <a:lnTo>
                    <a:pt x="766875" y="2068674"/>
                  </a:lnTo>
                  <a:lnTo>
                    <a:pt x="1097151" y="1833981"/>
                  </a:lnTo>
                  <a:lnTo>
                    <a:pt x="1427427" y="1581992"/>
                  </a:lnTo>
                  <a:lnTo>
                    <a:pt x="1864027" y="1292668"/>
                  </a:lnTo>
                  <a:lnTo>
                    <a:pt x="2194303" y="1063691"/>
                  </a:lnTo>
                  <a:lnTo>
                    <a:pt x="2524578" y="819826"/>
                  </a:lnTo>
                  <a:lnTo>
                    <a:pt x="2961178" y="502276"/>
                  </a:lnTo>
                  <a:lnTo>
                    <a:pt x="3291454" y="254285"/>
                  </a:lnTo>
                  <a:lnTo>
                    <a:pt x="3621730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6017053" y="675611"/>
              <a:ext cx="3621730" cy="2674162"/>
            </a:xfrm>
            <a:custGeom>
              <a:avLst/>
              <a:pathLst>
                <a:path w="3621730" h="2674162">
                  <a:moveTo>
                    <a:pt x="0" y="2674162"/>
                  </a:moveTo>
                  <a:lnTo>
                    <a:pt x="766875" y="2033820"/>
                  </a:lnTo>
                  <a:lnTo>
                    <a:pt x="1097151" y="1801705"/>
                  </a:lnTo>
                  <a:lnTo>
                    <a:pt x="1427427" y="1588257"/>
                  </a:lnTo>
                  <a:lnTo>
                    <a:pt x="1864027" y="1285092"/>
                  </a:lnTo>
                  <a:lnTo>
                    <a:pt x="2194303" y="1056781"/>
                  </a:lnTo>
                  <a:lnTo>
                    <a:pt x="2524578" y="834592"/>
                  </a:lnTo>
                  <a:lnTo>
                    <a:pt x="2961178" y="526735"/>
                  </a:lnTo>
                  <a:lnTo>
                    <a:pt x="3291454" y="281927"/>
                  </a:lnTo>
                  <a:lnTo>
                    <a:pt x="3621730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6017053" y="681293"/>
              <a:ext cx="3621730" cy="2455033"/>
            </a:xfrm>
            <a:custGeom>
              <a:avLst/>
              <a:pathLst>
                <a:path w="3621730" h="2455033">
                  <a:moveTo>
                    <a:pt x="0" y="2455033"/>
                  </a:moveTo>
                  <a:lnTo>
                    <a:pt x="766875" y="2116728"/>
                  </a:lnTo>
                  <a:lnTo>
                    <a:pt x="1097151" y="1930075"/>
                  </a:lnTo>
                  <a:lnTo>
                    <a:pt x="1427427" y="1631558"/>
                  </a:lnTo>
                  <a:lnTo>
                    <a:pt x="1864027" y="1296813"/>
                  </a:lnTo>
                  <a:lnTo>
                    <a:pt x="2194303" y="1078041"/>
                  </a:lnTo>
                  <a:lnTo>
                    <a:pt x="2524578" y="831271"/>
                  </a:lnTo>
                  <a:lnTo>
                    <a:pt x="2961178" y="509454"/>
                  </a:lnTo>
                  <a:lnTo>
                    <a:pt x="3291454" y="251968"/>
                  </a:lnTo>
                  <a:lnTo>
                    <a:pt x="3621730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985452" y="331817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752328" y="271895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7082603" y="248425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7412879" y="223226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7849479" y="1942945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8179755" y="171396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8510030" y="147010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8946631" y="115255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9276906" y="90456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9607182" y="65027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974493" y="308718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41369" y="274887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7071645" y="256222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7401920" y="226370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7838521" y="192896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8168796" y="171019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8499072" y="146342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8935672" y="114160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9265948" y="88411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9596223" y="63214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985452" y="331817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752328" y="271895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7082603" y="248425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7412879" y="224146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7849479" y="192910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8179755" y="1704034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8510030" y="147316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8946631" y="115942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9276906" y="917969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9607182" y="642347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974493" y="330063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41369" y="266028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7071645" y="242817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7401920" y="2214726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7838521" y="191156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8168796" y="168325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8499072" y="146106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8935672" y="115320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9265948" y="90839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9596223" y="62646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5835966" y="540157"/>
              <a:ext cx="3983903" cy="294340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tx214"/>
            <p:cNvSpPr/>
            <p:nvPr/>
          </p:nvSpPr>
          <p:spPr>
            <a:xfrm>
              <a:off x="5702231" y="330903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5631126" y="2596925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5560021" y="1887869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5453390" y="1167408"/>
              <a:ext cx="319945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1,000</a:t>
              </a:r>
            </a:p>
          </p:txBody>
        </p:sp>
        <p:sp>
          <p:nvSpPr>
            <p:cNvPr id="218" name="pl218"/>
            <p:cNvSpPr/>
            <p:nvPr/>
          </p:nvSpPr>
          <p:spPr>
            <a:xfrm>
              <a:off x="5801172" y="33497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5801172" y="26407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5801172" y="19316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5801172" y="12226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6017053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114204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8211356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9308507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tx226"/>
            <p:cNvSpPr/>
            <p:nvPr/>
          </p:nvSpPr>
          <p:spPr>
            <a:xfrm>
              <a:off x="5839536" y="3543139"/>
              <a:ext cx="35503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6972240" y="3543139"/>
              <a:ext cx="283929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8122706" y="3543139"/>
              <a:ext cx="177298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9184305" y="3543139"/>
              <a:ext cx="24840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7781874" y="3707743"/>
              <a:ext cx="92087" cy="7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</a:t>
              </a:r>
            </a:p>
          </p:txBody>
        </p:sp>
        <p:sp>
          <p:nvSpPr>
            <p:cNvPr id="231" name="tx231"/>
            <p:cNvSpPr/>
            <p:nvPr/>
          </p:nvSpPr>
          <p:spPr>
            <a:xfrm rot="-5400000">
              <a:off x="5085512" y="1950674"/>
              <a:ext cx="485675" cy="122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Dα,win</a:t>
              </a:r>
            </a:p>
          </p:txBody>
        </p:sp>
        <p:sp>
          <p:nvSpPr>
            <p:cNvPr id="232" name="rc232"/>
            <p:cNvSpPr/>
            <p:nvPr/>
          </p:nvSpPr>
          <p:spPr>
            <a:xfrm>
              <a:off x="8328020" y="202245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8349966" y="21321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8328020" y="224190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8349966" y="235163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8617065" y="2064759"/>
              <a:ext cx="534734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First pass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8617065" y="2284215"/>
              <a:ext cx="70270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Second pass</a:t>
              </a:r>
            </a:p>
          </p:txBody>
        </p:sp>
        <p:sp>
          <p:nvSpPr>
            <p:cNvPr id="238" name="rc238"/>
            <p:cNvSpPr/>
            <p:nvPr/>
          </p:nvSpPr>
          <p:spPr>
            <a:xfrm>
              <a:off x="8328020" y="28093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8349966" y="29190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8406147" y="288743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8328020" y="302876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8349966" y="313849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8395188" y="308935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8617065" y="2873280"/>
              <a:ext cx="295880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Basic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8617065" y="3071072"/>
              <a:ext cx="68311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Semi-tryptic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5835966" y="321243"/>
              <a:ext cx="1641326" cy="122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Decoys with q in (α, 1.2α]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5835966" y="101598"/>
              <a:ext cx="2911450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Local boundary support Dα,win</a:t>
              </a:r>
            </a:p>
          </p:txBody>
        </p:sp>
        <p:sp>
          <p:nvSpPr>
            <p:cNvPr id="248" name="rc248"/>
            <p:cNvSpPr/>
            <p:nvPr/>
          </p:nvSpPr>
          <p:spPr>
            <a:xfrm>
              <a:off x="9889458" y="69589"/>
              <a:ext cx="4671352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10507318" y="540157"/>
              <a:ext cx="3983903" cy="29434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0507318" y="2800806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0507318" y="2090237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0507318" y="1379669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10507318" y="669101"/>
              <a:ext cx="3983903" cy="0"/>
            </a:xfrm>
            <a:custGeom>
              <a:avLst/>
              <a:pathLst>
                <a:path w="3983903" h="0">
                  <a:moveTo>
                    <a:pt x="0" y="0"/>
                  </a:moveTo>
                  <a:lnTo>
                    <a:pt x="3983903" y="0"/>
                  </a:lnTo>
                  <a:lnTo>
                    <a:pt x="398390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0688405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1785556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2882708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3979859" y="540157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0688405" y="673948"/>
              <a:ext cx="3621730" cy="1106493"/>
            </a:xfrm>
            <a:custGeom>
              <a:avLst/>
              <a:pathLst>
                <a:path w="3621730" h="1106493">
                  <a:moveTo>
                    <a:pt x="0" y="0"/>
                  </a:moveTo>
                  <a:lnTo>
                    <a:pt x="766875" y="307985"/>
                  </a:lnTo>
                  <a:lnTo>
                    <a:pt x="1097151" y="511908"/>
                  </a:lnTo>
                  <a:lnTo>
                    <a:pt x="1427427" y="400153"/>
                  </a:lnTo>
                  <a:lnTo>
                    <a:pt x="1864027" y="378701"/>
                  </a:lnTo>
                  <a:lnTo>
                    <a:pt x="2194303" y="343943"/>
                  </a:lnTo>
                  <a:lnTo>
                    <a:pt x="2524578" y="380749"/>
                  </a:lnTo>
                  <a:lnTo>
                    <a:pt x="2961178" y="491514"/>
                  </a:lnTo>
                  <a:lnTo>
                    <a:pt x="3291454" y="606919"/>
                  </a:lnTo>
                  <a:lnTo>
                    <a:pt x="3621730" y="1106493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10688405" y="1143704"/>
              <a:ext cx="3621730" cy="1791149"/>
            </a:xfrm>
            <a:custGeom>
              <a:avLst/>
              <a:pathLst>
                <a:path w="3621730" h="1791149">
                  <a:moveTo>
                    <a:pt x="0" y="1791149"/>
                  </a:moveTo>
                  <a:lnTo>
                    <a:pt x="766875" y="566028"/>
                  </a:lnTo>
                  <a:lnTo>
                    <a:pt x="1097151" y="190929"/>
                  </a:lnTo>
                  <a:lnTo>
                    <a:pt x="1427427" y="389999"/>
                  </a:lnTo>
                  <a:lnTo>
                    <a:pt x="1864027" y="37013"/>
                  </a:lnTo>
                  <a:lnTo>
                    <a:pt x="2194303" y="0"/>
                  </a:lnTo>
                  <a:lnTo>
                    <a:pt x="2524578" y="165709"/>
                  </a:lnTo>
                  <a:lnTo>
                    <a:pt x="2961178" y="191940"/>
                  </a:lnTo>
                  <a:lnTo>
                    <a:pt x="3291454" y="282837"/>
                  </a:lnTo>
                  <a:lnTo>
                    <a:pt x="3621730" y="422949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10688405" y="993332"/>
              <a:ext cx="3621730" cy="920637"/>
            </a:xfrm>
            <a:custGeom>
              <a:avLst/>
              <a:pathLst>
                <a:path w="3621730" h="920637">
                  <a:moveTo>
                    <a:pt x="0" y="800665"/>
                  </a:moveTo>
                  <a:lnTo>
                    <a:pt x="766875" y="116610"/>
                  </a:lnTo>
                  <a:lnTo>
                    <a:pt x="1097151" y="608041"/>
                  </a:lnTo>
                  <a:lnTo>
                    <a:pt x="1427427" y="179741"/>
                  </a:lnTo>
                  <a:lnTo>
                    <a:pt x="1864027" y="54738"/>
                  </a:lnTo>
                  <a:lnTo>
                    <a:pt x="2194303" y="58032"/>
                  </a:lnTo>
                  <a:lnTo>
                    <a:pt x="2524578" y="0"/>
                  </a:lnTo>
                  <a:lnTo>
                    <a:pt x="2961178" y="106298"/>
                  </a:lnTo>
                  <a:lnTo>
                    <a:pt x="3291454" y="329896"/>
                  </a:lnTo>
                  <a:lnTo>
                    <a:pt x="3621730" y="920637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0688405" y="1060108"/>
              <a:ext cx="3621730" cy="2289666"/>
            </a:xfrm>
            <a:custGeom>
              <a:avLst/>
              <a:pathLst>
                <a:path w="3621730" h="2289666">
                  <a:moveTo>
                    <a:pt x="0" y="2289666"/>
                  </a:moveTo>
                  <a:lnTo>
                    <a:pt x="766875" y="4053"/>
                  </a:lnTo>
                  <a:lnTo>
                    <a:pt x="1097151" y="0"/>
                  </a:lnTo>
                  <a:lnTo>
                    <a:pt x="1427427" y="307475"/>
                  </a:lnTo>
                  <a:lnTo>
                    <a:pt x="1864027" y="573705"/>
                  </a:lnTo>
                  <a:lnTo>
                    <a:pt x="2194303" y="151973"/>
                  </a:lnTo>
                  <a:lnTo>
                    <a:pt x="2524578" y="270448"/>
                  </a:lnTo>
                  <a:lnTo>
                    <a:pt x="2961178" y="332533"/>
                  </a:lnTo>
                  <a:lnTo>
                    <a:pt x="3291454" y="542897"/>
                  </a:lnTo>
                  <a:lnTo>
                    <a:pt x="3621730" y="504565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0656804" y="290325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1423680" y="167813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1753955" y="130303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2084231" y="150210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2520831" y="114911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2851107" y="111210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3181382" y="127781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13617983" y="130404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3948258" y="1394940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4278534" y="153505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10645845" y="330063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11412721" y="101501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11742997" y="101096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12073272" y="131843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12509873" y="158466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12840148" y="116293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13170424" y="128141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13607024" y="134349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13937300" y="155386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14267575" y="151552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10656804" y="642347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1423680" y="95033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11753955" y="1154255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2084231" y="1042500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2520831" y="102104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12851107" y="986290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13181382" y="102309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3617983" y="113386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3948258" y="124926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4278534" y="174884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10645845" y="174485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11412721" y="106079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11742997" y="155223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12073272" y="112393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12509873" y="99892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12840148" y="100222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13170424" y="94418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13607024" y="105048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13937300" y="127408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14267575" y="186482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10507318" y="540157"/>
              <a:ext cx="3983903" cy="294340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10124743" y="2757013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0.925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10124743" y="2046445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0.950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10124743" y="1335877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0.975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10124743" y="625308"/>
              <a:ext cx="31994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1.000</a:t>
              </a:r>
            </a:p>
          </p:txBody>
        </p:sp>
        <p:sp>
          <p:nvSpPr>
            <p:cNvPr id="307" name="pl307"/>
            <p:cNvSpPr/>
            <p:nvPr/>
          </p:nvSpPr>
          <p:spPr>
            <a:xfrm>
              <a:off x="10472524" y="28008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10472524" y="20902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10472524" y="13796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10472524" y="6691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10688405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11785556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12882708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13979859" y="34835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tx315"/>
            <p:cNvSpPr/>
            <p:nvPr/>
          </p:nvSpPr>
          <p:spPr>
            <a:xfrm>
              <a:off x="10510888" y="3543139"/>
              <a:ext cx="35503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11643592" y="3543139"/>
              <a:ext cx="283929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12794058" y="3543139"/>
              <a:ext cx="177298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13855657" y="3543139"/>
              <a:ext cx="24840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12453226" y="3707743"/>
              <a:ext cx="92087" cy="7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</a:t>
              </a:r>
            </a:p>
          </p:txBody>
        </p:sp>
        <p:sp>
          <p:nvSpPr>
            <p:cNvPr id="320" name="tx320"/>
            <p:cNvSpPr/>
            <p:nvPr/>
          </p:nvSpPr>
          <p:spPr>
            <a:xfrm rot="-5400000">
              <a:off x="9452703" y="1944262"/>
              <a:ext cx="108117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Jaccard overlap</a:t>
              </a:r>
            </a:p>
          </p:txBody>
        </p:sp>
        <p:sp>
          <p:nvSpPr>
            <p:cNvPr id="321" name="rc321"/>
            <p:cNvSpPr/>
            <p:nvPr/>
          </p:nvSpPr>
          <p:spPr>
            <a:xfrm>
              <a:off x="12999372" y="216962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13021318" y="22793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12999372" y="238907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13021318" y="24988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tx325"/>
            <p:cNvSpPr/>
            <p:nvPr/>
          </p:nvSpPr>
          <p:spPr>
            <a:xfrm>
              <a:off x="13288417" y="2211929"/>
              <a:ext cx="534734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First pass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13288417" y="2431385"/>
              <a:ext cx="70270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Second pass</a:t>
              </a:r>
            </a:p>
          </p:txBody>
        </p:sp>
        <p:sp>
          <p:nvSpPr>
            <p:cNvPr id="327" name="rc327"/>
            <p:cNvSpPr/>
            <p:nvPr/>
          </p:nvSpPr>
          <p:spPr>
            <a:xfrm>
              <a:off x="12999372" y="295648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3021318" y="30662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3077499" y="3034607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12999372" y="317593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13021318" y="328566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13066540" y="3236520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tx333"/>
            <p:cNvSpPr/>
            <p:nvPr/>
          </p:nvSpPr>
          <p:spPr>
            <a:xfrm>
              <a:off x="13288417" y="3020451"/>
              <a:ext cx="295880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Basic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13288417" y="3218242"/>
              <a:ext cx="68311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Semi-tryptic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10507318" y="321243"/>
              <a:ext cx="1785875" cy="122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List overlap: A(α) vs A(1.2α)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10507318" y="101598"/>
              <a:ext cx="2597869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C. Threshold elasticity Sα(0.2)</a:t>
              </a:r>
            </a:p>
          </p:txBody>
        </p:sp>
        <p:sp>
          <p:nvSpPr>
            <p:cNvPr id="337" name="rc337"/>
            <p:cNvSpPr/>
            <p:nvPr/>
          </p:nvSpPr>
          <p:spPr>
            <a:xfrm>
              <a:off x="69589" y="3886199"/>
              <a:ext cx="5077301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758554" y="4356768"/>
              <a:ext cx="2943408" cy="29434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758554" y="7166385"/>
              <a:ext cx="2943408" cy="0"/>
            </a:xfrm>
            <a:custGeom>
              <a:avLst/>
              <a:pathLst>
                <a:path w="2943408" h="0">
                  <a:moveTo>
                    <a:pt x="0" y="0"/>
                  </a:moveTo>
                  <a:lnTo>
                    <a:pt x="2943408" y="0"/>
                  </a:lnTo>
                  <a:lnTo>
                    <a:pt x="294340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758554" y="6497428"/>
              <a:ext cx="2943408" cy="0"/>
            </a:xfrm>
            <a:custGeom>
              <a:avLst/>
              <a:pathLst>
                <a:path w="2943408" h="0">
                  <a:moveTo>
                    <a:pt x="0" y="0"/>
                  </a:moveTo>
                  <a:lnTo>
                    <a:pt x="2943408" y="0"/>
                  </a:lnTo>
                  <a:lnTo>
                    <a:pt x="294340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58554" y="5828472"/>
              <a:ext cx="2943408" cy="0"/>
            </a:xfrm>
            <a:custGeom>
              <a:avLst/>
              <a:pathLst>
                <a:path w="2943408" h="0">
                  <a:moveTo>
                    <a:pt x="0" y="0"/>
                  </a:moveTo>
                  <a:lnTo>
                    <a:pt x="2943408" y="0"/>
                  </a:lnTo>
                  <a:lnTo>
                    <a:pt x="294340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58554" y="5159515"/>
              <a:ext cx="2943408" cy="0"/>
            </a:xfrm>
            <a:custGeom>
              <a:avLst/>
              <a:pathLst>
                <a:path w="2943408" h="0">
                  <a:moveTo>
                    <a:pt x="0" y="0"/>
                  </a:moveTo>
                  <a:lnTo>
                    <a:pt x="2943408" y="0"/>
                  </a:lnTo>
                  <a:lnTo>
                    <a:pt x="294340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58554" y="4490559"/>
              <a:ext cx="2943408" cy="0"/>
            </a:xfrm>
            <a:custGeom>
              <a:avLst/>
              <a:pathLst>
                <a:path w="2943408" h="0">
                  <a:moveTo>
                    <a:pt x="0" y="0"/>
                  </a:moveTo>
                  <a:lnTo>
                    <a:pt x="2943408" y="0"/>
                  </a:lnTo>
                  <a:lnTo>
                    <a:pt x="294340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892345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561301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2230258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2899214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568170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58554" y="4356768"/>
              <a:ext cx="2943408" cy="2943408"/>
            </a:xfrm>
            <a:custGeom>
              <a:avLst/>
              <a:pathLst>
                <a:path w="2943408" h="2943408">
                  <a:moveTo>
                    <a:pt x="0" y="2943408"/>
                  </a:moveTo>
                  <a:lnTo>
                    <a:pt x="0" y="2943408"/>
                  </a:lnTo>
                  <a:lnTo>
                    <a:pt x="2943408" y="0"/>
                  </a:lnTo>
                  <a:lnTo>
                    <a:pt x="2943408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790018" y="7026413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992440" y="6529481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111781" y="6321137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1233784" y="6058593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1363406" y="5832863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1515573" y="5576393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1658025" y="5034448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1793794" y="5190908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1974491" y="4773995"/>
              <a:ext cx="124236" cy="124236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453064" y="4377654"/>
              <a:ext cx="225810" cy="225810"/>
            </a:xfrm>
            <a:prstGeom prst="ellipse">
              <a:avLst/>
            </a:prstGeom>
            <a:solidFill>
              <a:srgbClr val="1F77B4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794792" y="7006675"/>
              <a:ext cx="225810" cy="225810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976281" y="6548511"/>
              <a:ext cx="225810" cy="225810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1127407" y="6191255"/>
              <a:ext cx="225810" cy="225810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1264527" y="5898520"/>
              <a:ext cx="225810" cy="225810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1382862" y="5697167"/>
              <a:ext cx="225810" cy="225810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496385" y="5508873"/>
              <a:ext cx="225810" cy="225810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1649719" y="5401458"/>
              <a:ext cx="225810" cy="225810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799879" y="4776160"/>
              <a:ext cx="104248" cy="104248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453046" y="4377654"/>
              <a:ext cx="225810" cy="225810"/>
            </a:xfrm>
            <a:prstGeom prst="ellipse">
              <a:avLst/>
            </a:prstGeom>
            <a:solidFill>
              <a:srgbClr val="E69F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788319" y="7023781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961012" y="6506551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109074" y="6161538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1222180" y="5951498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1374122" y="5591565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1534769" y="5474524"/>
              <a:ext cx="200174" cy="200174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637884" y="5173559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776018" y="5160822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921456" y="4467539"/>
              <a:ext cx="225484" cy="225484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040443" y="4659320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2171207" y="4380066"/>
              <a:ext cx="220986" cy="220986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2332247" y="4410562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2445289" y="4377654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2574568" y="4446873"/>
              <a:ext cx="201521" cy="201521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773663" y="4420119"/>
              <a:ext cx="140880" cy="14088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052092" y="4446228"/>
              <a:ext cx="88661" cy="88661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169350" y="4447351"/>
              <a:ext cx="86416" cy="86416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453162" y="4377654"/>
              <a:ext cx="225810" cy="225810"/>
            </a:xfrm>
            <a:prstGeom prst="ellipse">
              <a:avLst/>
            </a:prstGeom>
            <a:solidFill>
              <a:srgbClr val="1F77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787925" y="7026067"/>
              <a:ext cx="225810" cy="225810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973890" y="6491286"/>
              <a:ext cx="225810" cy="225810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1109164" y="6157111"/>
              <a:ext cx="225810" cy="225810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265712" y="5897391"/>
              <a:ext cx="222367" cy="222367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1442209" y="5308594"/>
              <a:ext cx="128048" cy="128048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1515926" y="5516165"/>
              <a:ext cx="222478" cy="222478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1657481" y="5259296"/>
              <a:ext cx="225810" cy="225810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1782971" y="5236199"/>
              <a:ext cx="212905" cy="212905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1948725" y="4909274"/>
              <a:ext cx="115325" cy="115325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059140" y="4844338"/>
              <a:ext cx="193415" cy="193415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252382" y="4733686"/>
              <a:ext cx="143352" cy="143352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332661" y="4630584"/>
              <a:ext cx="206463" cy="206463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464775" y="4543178"/>
              <a:ext cx="202253" cy="202253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566804" y="4511881"/>
              <a:ext cx="225810" cy="225810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727111" y="4379817"/>
              <a:ext cx="221484" cy="221484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886853" y="4421734"/>
              <a:ext cx="225810" cy="225810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947567" y="4387732"/>
              <a:ext cx="225810" cy="225810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170754" y="4396535"/>
              <a:ext cx="188048" cy="188048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452997" y="4377654"/>
              <a:ext cx="225810" cy="225810"/>
            </a:xfrm>
            <a:prstGeom prst="ellipse">
              <a:avLst/>
            </a:prstGeom>
            <a:solidFill>
              <a:srgbClr val="E69F00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791757" y="7041149"/>
              <a:ext cx="225810" cy="225810"/>
            </a:xfrm>
            <a:custGeom>
              <a:avLst/>
              <a:pathLst>
                <a:path w="225810" h="225810">
                  <a:moveTo>
                    <a:pt x="0" y="225810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791757" y="7041149"/>
              <a:ext cx="225810" cy="225810"/>
            </a:xfrm>
            <a:custGeom>
              <a:avLst/>
              <a:pathLst>
                <a:path w="225810" h="225810">
                  <a:moveTo>
                    <a:pt x="0" y="0"/>
                  </a:moveTo>
                  <a:lnTo>
                    <a:pt x="225810" y="22581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993880" y="6838827"/>
              <a:ext cx="225810" cy="225810"/>
            </a:xfrm>
            <a:custGeom>
              <a:avLst/>
              <a:pathLst>
                <a:path w="225810" h="225810">
                  <a:moveTo>
                    <a:pt x="0" y="225810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993880" y="6838827"/>
              <a:ext cx="225810" cy="225810"/>
            </a:xfrm>
            <a:custGeom>
              <a:avLst/>
              <a:pathLst>
                <a:path w="225810" h="225810">
                  <a:moveTo>
                    <a:pt x="0" y="0"/>
                  </a:moveTo>
                  <a:lnTo>
                    <a:pt x="225810" y="22581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115020" y="6717552"/>
              <a:ext cx="225810" cy="225810"/>
            </a:xfrm>
            <a:custGeom>
              <a:avLst/>
              <a:pathLst>
                <a:path w="225810" h="225810">
                  <a:moveTo>
                    <a:pt x="0" y="225810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115020" y="6717552"/>
              <a:ext cx="225810" cy="225810"/>
            </a:xfrm>
            <a:custGeom>
              <a:avLst/>
              <a:pathLst>
                <a:path w="225810" h="225810">
                  <a:moveTo>
                    <a:pt x="0" y="0"/>
                  </a:moveTo>
                  <a:lnTo>
                    <a:pt x="225810" y="22581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232086" y="6600684"/>
              <a:ext cx="225809" cy="225810"/>
            </a:xfrm>
            <a:custGeom>
              <a:avLst/>
              <a:pathLst>
                <a:path w="225809" h="225810">
                  <a:moveTo>
                    <a:pt x="0" y="225810"/>
                  </a:moveTo>
                  <a:lnTo>
                    <a:pt x="225809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1232086" y="6600684"/>
              <a:ext cx="225809" cy="225810"/>
            </a:xfrm>
            <a:custGeom>
              <a:avLst/>
              <a:pathLst>
                <a:path w="225809" h="225810">
                  <a:moveTo>
                    <a:pt x="0" y="0"/>
                  </a:moveTo>
                  <a:lnTo>
                    <a:pt x="225809" y="22581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1362757" y="6469527"/>
              <a:ext cx="225809" cy="225810"/>
            </a:xfrm>
            <a:custGeom>
              <a:avLst/>
              <a:pathLst>
                <a:path w="225809" h="225810">
                  <a:moveTo>
                    <a:pt x="0" y="225810"/>
                  </a:moveTo>
                  <a:lnTo>
                    <a:pt x="225809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1362757" y="6469527"/>
              <a:ext cx="225809" cy="225810"/>
            </a:xfrm>
            <a:custGeom>
              <a:avLst/>
              <a:pathLst>
                <a:path w="225809" h="225810">
                  <a:moveTo>
                    <a:pt x="0" y="0"/>
                  </a:moveTo>
                  <a:lnTo>
                    <a:pt x="225809" y="22581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1515716" y="6316558"/>
              <a:ext cx="225810" cy="225809"/>
            </a:xfrm>
            <a:custGeom>
              <a:avLst/>
              <a:pathLst>
                <a:path w="225810" h="225809">
                  <a:moveTo>
                    <a:pt x="0" y="225809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1515716" y="6316558"/>
              <a:ext cx="225810" cy="225809"/>
            </a:xfrm>
            <a:custGeom>
              <a:avLst/>
              <a:pathLst>
                <a:path w="225810" h="225809">
                  <a:moveTo>
                    <a:pt x="0" y="0"/>
                  </a:moveTo>
                  <a:lnTo>
                    <a:pt x="225810" y="225809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1657437" y="6174788"/>
              <a:ext cx="225810" cy="225809"/>
            </a:xfrm>
            <a:custGeom>
              <a:avLst/>
              <a:pathLst>
                <a:path w="225810" h="225809">
                  <a:moveTo>
                    <a:pt x="0" y="225809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1657437" y="6174788"/>
              <a:ext cx="225810" cy="225809"/>
            </a:xfrm>
            <a:custGeom>
              <a:avLst/>
              <a:pathLst>
                <a:path w="225810" h="225809">
                  <a:moveTo>
                    <a:pt x="0" y="0"/>
                  </a:moveTo>
                  <a:lnTo>
                    <a:pt x="225810" y="225809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1791918" y="6039383"/>
              <a:ext cx="225810" cy="225809"/>
            </a:xfrm>
            <a:custGeom>
              <a:avLst/>
              <a:pathLst>
                <a:path w="225810" h="225809">
                  <a:moveTo>
                    <a:pt x="0" y="225809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1791918" y="6039383"/>
              <a:ext cx="225810" cy="225809"/>
            </a:xfrm>
            <a:custGeom>
              <a:avLst/>
              <a:pathLst>
                <a:path w="225810" h="225809">
                  <a:moveTo>
                    <a:pt x="0" y="0"/>
                  </a:moveTo>
                  <a:lnTo>
                    <a:pt x="225810" y="225809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1932462" y="5913040"/>
              <a:ext cx="214340" cy="214340"/>
            </a:xfrm>
            <a:custGeom>
              <a:avLst/>
              <a:pathLst>
                <a:path w="214340" h="214340">
                  <a:moveTo>
                    <a:pt x="0" y="214340"/>
                  </a:moveTo>
                  <a:lnTo>
                    <a:pt x="214340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1932462" y="5913040"/>
              <a:ext cx="214340" cy="214340"/>
            </a:xfrm>
            <a:custGeom>
              <a:avLst/>
              <a:pathLst>
                <a:path w="214340" h="214340">
                  <a:moveTo>
                    <a:pt x="0" y="0"/>
                  </a:moveTo>
                  <a:lnTo>
                    <a:pt x="214340" y="21434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2114934" y="5850837"/>
              <a:ext cx="102756" cy="102756"/>
            </a:xfrm>
            <a:custGeom>
              <a:avLst/>
              <a:pathLst>
                <a:path w="102756" h="102756">
                  <a:moveTo>
                    <a:pt x="0" y="102756"/>
                  </a:moveTo>
                  <a:lnTo>
                    <a:pt x="102756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2114934" y="5850837"/>
              <a:ext cx="102756" cy="102756"/>
            </a:xfrm>
            <a:custGeom>
              <a:avLst/>
              <a:pathLst>
                <a:path w="102756" h="102756">
                  <a:moveTo>
                    <a:pt x="0" y="0"/>
                  </a:moveTo>
                  <a:lnTo>
                    <a:pt x="102756" y="102756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3453065" y="4377654"/>
              <a:ext cx="225809" cy="225809"/>
            </a:xfrm>
            <a:custGeom>
              <a:avLst/>
              <a:pathLst>
                <a:path w="225809" h="225809">
                  <a:moveTo>
                    <a:pt x="0" y="225809"/>
                  </a:moveTo>
                  <a:lnTo>
                    <a:pt x="225809" y="0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3453065" y="4377654"/>
              <a:ext cx="225809" cy="225809"/>
            </a:xfrm>
            <a:custGeom>
              <a:avLst/>
              <a:pathLst>
                <a:path w="225809" h="225809">
                  <a:moveTo>
                    <a:pt x="0" y="0"/>
                  </a:moveTo>
                  <a:lnTo>
                    <a:pt x="225809" y="225809"/>
                  </a:lnTo>
                </a:path>
              </a:pathLst>
            </a:custGeom>
            <a:ln w="9000" cap="rnd">
              <a:solidFill>
                <a:srgbClr val="1F77B4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801532" y="7031373"/>
              <a:ext cx="225809" cy="225810"/>
            </a:xfrm>
            <a:custGeom>
              <a:avLst/>
              <a:pathLst>
                <a:path w="225809" h="225810">
                  <a:moveTo>
                    <a:pt x="0" y="225810"/>
                  </a:moveTo>
                  <a:lnTo>
                    <a:pt x="225809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801532" y="7031373"/>
              <a:ext cx="225809" cy="225810"/>
            </a:xfrm>
            <a:custGeom>
              <a:avLst/>
              <a:pathLst>
                <a:path w="225809" h="225810">
                  <a:moveTo>
                    <a:pt x="0" y="0"/>
                  </a:moveTo>
                  <a:lnTo>
                    <a:pt x="225809" y="22581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976109" y="6856672"/>
              <a:ext cx="225810" cy="225810"/>
            </a:xfrm>
            <a:custGeom>
              <a:avLst/>
              <a:pathLst>
                <a:path w="225810" h="225810">
                  <a:moveTo>
                    <a:pt x="0" y="225810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976109" y="6856672"/>
              <a:ext cx="225810" cy="225810"/>
            </a:xfrm>
            <a:custGeom>
              <a:avLst/>
              <a:pathLst>
                <a:path w="225810" h="225810">
                  <a:moveTo>
                    <a:pt x="0" y="0"/>
                  </a:moveTo>
                  <a:lnTo>
                    <a:pt x="225810" y="22581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1124549" y="6707915"/>
              <a:ext cx="225810" cy="225810"/>
            </a:xfrm>
            <a:custGeom>
              <a:avLst/>
              <a:pathLst>
                <a:path w="225810" h="225810">
                  <a:moveTo>
                    <a:pt x="0" y="225810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1124549" y="6707915"/>
              <a:ext cx="225810" cy="225810"/>
            </a:xfrm>
            <a:custGeom>
              <a:avLst/>
              <a:pathLst>
                <a:path w="225810" h="225810">
                  <a:moveTo>
                    <a:pt x="0" y="0"/>
                  </a:moveTo>
                  <a:lnTo>
                    <a:pt x="225810" y="22581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1261566" y="6570635"/>
              <a:ext cx="225810" cy="225810"/>
            </a:xfrm>
            <a:custGeom>
              <a:avLst/>
              <a:pathLst>
                <a:path w="225810" h="225810">
                  <a:moveTo>
                    <a:pt x="0" y="225810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1261566" y="6570635"/>
              <a:ext cx="225810" cy="225810"/>
            </a:xfrm>
            <a:custGeom>
              <a:avLst/>
              <a:pathLst>
                <a:path w="225810" h="225810">
                  <a:moveTo>
                    <a:pt x="0" y="0"/>
                  </a:moveTo>
                  <a:lnTo>
                    <a:pt x="225810" y="22581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1381437" y="6451093"/>
              <a:ext cx="225810" cy="225810"/>
            </a:xfrm>
            <a:custGeom>
              <a:avLst/>
              <a:pathLst>
                <a:path w="225810" h="225810">
                  <a:moveTo>
                    <a:pt x="0" y="225810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1381437" y="6451093"/>
              <a:ext cx="225810" cy="225810"/>
            </a:xfrm>
            <a:custGeom>
              <a:avLst/>
              <a:pathLst>
                <a:path w="225810" h="225810">
                  <a:moveTo>
                    <a:pt x="0" y="0"/>
                  </a:moveTo>
                  <a:lnTo>
                    <a:pt x="225810" y="22581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1496708" y="6335487"/>
              <a:ext cx="225810" cy="225809"/>
            </a:xfrm>
            <a:custGeom>
              <a:avLst/>
              <a:pathLst>
                <a:path w="225810" h="225809">
                  <a:moveTo>
                    <a:pt x="0" y="225809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1496708" y="6335487"/>
              <a:ext cx="225810" cy="225809"/>
            </a:xfrm>
            <a:custGeom>
              <a:avLst/>
              <a:pathLst>
                <a:path w="225810" h="225809">
                  <a:moveTo>
                    <a:pt x="0" y="0"/>
                  </a:moveTo>
                  <a:lnTo>
                    <a:pt x="225810" y="225809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1651343" y="6180578"/>
              <a:ext cx="225810" cy="225809"/>
            </a:xfrm>
            <a:custGeom>
              <a:avLst/>
              <a:pathLst>
                <a:path w="225810" h="225809">
                  <a:moveTo>
                    <a:pt x="0" y="225809"/>
                  </a:moveTo>
                  <a:lnTo>
                    <a:pt x="225810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1651343" y="6180578"/>
              <a:ext cx="225810" cy="225809"/>
            </a:xfrm>
            <a:custGeom>
              <a:avLst/>
              <a:pathLst>
                <a:path w="225810" h="225809">
                  <a:moveTo>
                    <a:pt x="0" y="0"/>
                  </a:moveTo>
                  <a:lnTo>
                    <a:pt x="225810" y="225809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1742592" y="6098706"/>
              <a:ext cx="216390" cy="216390"/>
            </a:xfrm>
            <a:custGeom>
              <a:avLst/>
              <a:pathLst>
                <a:path w="216390" h="216390">
                  <a:moveTo>
                    <a:pt x="0" y="216390"/>
                  </a:moveTo>
                  <a:lnTo>
                    <a:pt x="216390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1742592" y="6098706"/>
              <a:ext cx="216390" cy="216390"/>
            </a:xfrm>
            <a:custGeom>
              <a:avLst/>
              <a:pathLst>
                <a:path w="216390" h="216390">
                  <a:moveTo>
                    <a:pt x="0" y="0"/>
                  </a:moveTo>
                  <a:lnTo>
                    <a:pt x="216390" y="21639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1999229" y="5974528"/>
              <a:ext cx="102001" cy="102001"/>
            </a:xfrm>
            <a:custGeom>
              <a:avLst/>
              <a:pathLst>
                <a:path w="102001" h="102001">
                  <a:moveTo>
                    <a:pt x="0" y="102001"/>
                  </a:moveTo>
                  <a:lnTo>
                    <a:pt x="102001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1999229" y="5974528"/>
              <a:ext cx="102001" cy="102001"/>
            </a:xfrm>
            <a:custGeom>
              <a:avLst/>
              <a:pathLst>
                <a:path w="102001" h="102001">
                  <a:moveTo>
                    <a:pt x="0" y="0"/>
                  </a:moveTo>
                  <a:lnTo>
                    <a:pt x="102001" y="102001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3453076" y="4377654"/>
              <a:ext cx="225809" cy="225809"/>
            </a:xfrm>
            <a:custGeom>
              <a:avLst/>
              <a:pathLst>
                <a:path w="225809" h="225809">
                  <a:moveTo>
                    <a:pt x="0" y="225809"/>
                  </a:moveTo>
                  <a:lnTo>
                    <a:pt x="225809" y="0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3453076" y="4377654"/>
              <a:ext cx="225809" cy="225809"/>
            </a:xfrm>
            <a:custGeom>
              <a:avLst/>
              <a:pathLst>
                <a:path w="225809" h="225809">
                  <a:moveTo>
                    <a:pt x="0" y="0"/>
                  </a:moveTo>
                  <a:lnTo>
                    <a:pt x="225809" y="225809"/>
                  </a:lnTo>
                </a:path>
              </a:pathLst>
            </a:custGeom>
            <a:ln w="9000" cap="rnd">
              <a:solidFill>
                <a:srgbClr val="E69F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758554" y="4356768"/>
              <a:ext cx="2943408" cy="294340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tx449"/>
            <p:cNvSpPr/>
            <p:nvPr/>
          </p:nvSpPr>
          <p:spPr>
            <a:xfrm>
              <a:off x="447083" y="712259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447083" y="6453635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0.25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447083" y="578467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0.50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447083" y="5115723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0.75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447083" y="4446766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1.00</a:t>
              </a:r>
            </a:p>
          </p:txBody>
        </p:sp>
        <p:sp>
          <p:nvSpPr>
            <p:cNvPr id="454" name="pl454"/>
            <p:cNvSpPr/>
            <p:nvPr/>
          </p:nvSpPr>
          <p:spPr>
            <a:xfrm>
              <a:off x="723759" y="71663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23759" y="64974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23759" y="58284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23759" y="515951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23759" y="44905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tx459"/>
            <p:cNvSpPr/>
            <p:nvPr/>
          </p:nvSpPr>
          <p:spPr>
            <a:xfrm rot="-5400000">
              <a:off x="-943817" y="5758929"/>
              <a:ext cx="2515009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D_b / T_b (decoy-derived reference)</a:t>
              </a:r>
            </a:p>
          </p:txBody>
        </p:sp>
        <p:sp>
          <p:nvSpPr>
            <p:cNvPr id="460" name="pl460"/>
            <p:cNvSpPr/>
            <p:nvPr/>
          </p:nvSpPr>
          <p:spPr>
            <a:xfrm>
              <a:off x="892345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1561301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2230258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2899214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3568170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tx465"/>
            <p:cNvSpPr/>
            <p:nvPr/>
          </p:nvSpPr>
          <p:spPr>
            <a:xfrm>
              <a:off x="767925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466" name="tx466"/>
            <p:cNvSpPr/>
            <p:nvPr/>
          </p:nvSpPr>
          <p:spPr>
            <a:xfrm>
              <a:off x="1436881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0.25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2105837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0.50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2774794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0.75</a:t>
              </a:r>
            </a:p>
          </p:txBody>
        </p:sp>
        <p:sp>
          <p:nvSpPr>
            <p:cNvPr id="469" name="tx469"/>
            <p:cNvSpPr/>
            <p:nvPr/>
          </p:nvSpPr>
          <p:spPr>
            <a:xfrm>
              <a:off x="3443750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1.00</a:t>
              </a:r>
            </a:p>
          </p:txBody>
        </p:sp>
        <p:sp>
          <p:nvSpPr>
            <p:cNvPr id="470" name="tx470"/>
            <p:cNvSpPr/>
            <p:nvPr/>
          </p:nvSpPr>
          <p:spPr>
            <a:xfrm>
              <a:off x="1534282" y="7468965"/>
              <a:ext cx="139195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predicted PEP</a:t>
              </a:r>
            </a:p>
          </p:txBody>
        </p:sp>
        <p:sp>
          <p:nvSpPr>
            <p:cNvPr id="471" name="rc471"/>
            <p:cNvSpPr/>
            <p:nvPr/>
          </p:nvSpPr>
          <p:spPr>
            <a:xfrm>
              <a:off x="3910729" y="431952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995631" y="4404427"/>
              <a:ext cx="49651" cy="49651"/>
            </a:xfrm>
            <a:prstGeom prst="ellipse">
              <a:avLst/>
            </a:prstGeom>
            <a:solidFill>
              <a:srgbClr val="000000">
                <a:alpha val="34901"/>
              </a:srgbClr>
            </a:solidFill>
            <a:ln w="9000" cap="rnd">
              <a:solidFill>
                <a:srgbClr val="00000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3910729" y="45389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3995631" y="4623883"/>
              <a:ext cx="49651" cy="49651"/>
            </a:xfrm>
            <a:prstGeom prst="ellipse">
              <a:avLst/>
            </a:prstGeom>
            <a:solidFill>
              <a:srgbClr val="000000">
                <a:alpha val="90196"/>
              </a:srgbClr>
            </a:solidFill>
            <a:ln w="90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tx475"/>
            <p:cNvSpPr/>
            <p:nvPr/>
          </p:nvSpPr>
          <p:spPr>
            <a:xfrm>
              <a:off x="4199774" y="4367960"/>
              <a:ext cx="486122" cy="9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First pass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4199774" y="4587416"/>
              <a:ext cx="638819" cy="9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Second pass</a:t>
              </a:r>
            </a:p>
          </p:txBody>
        </p:sp>
        <p:sp>
          <p:nvSpPr>
            <p:cNvPr id="477" name="rc477"/>
            <p:cNvSpPr/>
            <p:nvPr/>
          </p:nvSpPr>
          <p:spPr>
            <a:xfrm>
              <a:off x="3910729" y="510638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995631" y="51912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3910729" y="532583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995631" y="5410740"/>
              <a:ext cx="49651" cy="49651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9000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tx481"/>
            <p:cNvSpPr/>
            <p:nvPr/>
          </p:nvSpPr>
          <p:spPr>
            <a:xfrm>
              <a:off x="4199774" y="5174512"/>
              <a:ext cx="268982" cy="786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Basic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4199774" y="5374273"/>
              <a:ext cx="621010" cy="9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Semi-tryptic</a:t>
              </a:r>
            </a:p>
          </p:txBody>
        </p:sp>
        <p:sp>
          <p:nvSpPr>
            <p:cNvPr id="483" name="rc483"/>
            <p:cNvSpPr/>
            <p:nvPr/>
          </p:nvSpPr>
          <p:spPr>
            <a:xfrm>
              <a:off x="3910729" y="5893239"/>
              <a:ext cx="288000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996026" y="5944264"/>
              <a:ext cx="117404" cy="11740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3910729" y="6112695"/>
              <a:ext cx="288000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3973575" y="6141269"/>
              <a:ext cx="162307" cy="16230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3910729" y="6332151"/>
              <a:ext cx="288000" cy="28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941824" y="6363246"/>
              <a:ext cx="225810" cy="22581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tx489"/>
            <p:cNvSpPr/>
            <p:nvPr/>
          </p:nvSpPr>
          <p:spPr>
            <a:xfrm>
              <a:off x="4268318" y="5963155"/>
              <a:ext cx="193923" cy="76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4268318" y="6182611"/>
              <a:ext cx="258564" cy="76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1000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4268318" y="6436339"/>
              <a:ext cx="258564" cy="76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2000</a:t>
              </a:r>
            </a:p>
          </p:txBody>
        </p:sp>
        <p:sp>
          <p:nvSpPr>
            <p:cNvPr id="492" name="rc492"/>
            <p:cNvSpPr/>
            <p:nvPr/>
          </p:nvSpPr>
          <p:spPr>
            <a:xfrm>
              <a:off x="3910729" y="696809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995631" y="7052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3910729" y="718755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3995631" y="727245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3995631" y="727245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tx497"/>
            <p:cNvSpPr/>
            <p:nvPr/>
          </p:nvSpPr>
          <p:spPr>
            <a:xfrm>
              <a:off x="4199774" y="7016532"/>
              <a:ext cx="491380" cy="9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global list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4199774" y="7252607"/>
              <a:ext cx="807938" cy="817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run × precursor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758554" y="3918209"/>
              <a:ext cx="3175322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D. Decoy-reference PEP concordance</a:t>
              </a:r>
            </a:p>
          </p:txBody>
        </p:sp>
        <p:sp>
          <p:nvSpPr>
            <p:cNvPr id="500" name="rc500"/>
            <p:cNvSpPr/>
            <p:nvPr/>
          </p:nvSpPr>
          <p:spPr>
            <a:xfrm>
              <a:off x="5146890" y="3886199"/>
              <a:ext cx="4600302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5622540" y="4356768"/>
              <a:ext cx="4055063" cy="29434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5622540" y="7204664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5622540" y="6431438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5622540" y="5658212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5622540" y="4884986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5803796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6726168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7648539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8570911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9493283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5622540" y="5271599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5806898" y="4995337"/>
              <a:ext cx="3686384" cy="2170935"/>
            </a:xfrm>
            <a:custGeom>
              <a:avLst/>
              <a:pathLst>
                <a:path w="3686384" h="2170935">
                  <a:moveTo>
                    <a:pt x="0" y="2170935"/>
                  </a:moveTo>
                  <a:lnTo>
                    <a:pt x="51084" y="1521748"/>
                  </a:lnTo>
                  <a:lnTo>
                    <a:pt x="121801" y="1033216"/>
                  </a:lnTo>
                  <a:lnTo>
                    <a:pt x="270655" y="509025"/>
                  </a:lnTo>
                  <a:lnTo>
                    <a:pt x="553193" y="205106"/>
                  </a:lnTo>
                  <a:lnTo>
                    <a:pt x="1351131" y="88792"/>
                  </a:lnTo>
                  <a:lnTo>
                    <a:pt x="3686384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5807764" y="4490559"/>
              <a:ext cx="3685518" cy="2675803"/>
            </a:xfrm>
            <a:custGeom>
              <a:avLst/>
              <a:pathLst>
                <a:path w="3685518" h="2675803">
                  <a:moveTo>
                    <a:pt x="0" y="2675803"/>
                  </a:moveTo>
                  <a:lnTo>
                    <a:pt x="50312" y="2144952"/>
                  </a:lnTo>
                  <a:lnTo>
                    <a:pt x="119298" y="1807647"/>
                  </a:lnTo>
                  <a:lnTo>
                    <a:pt x="269126" y="1246770"/>
                  </a:lnTo>
                  <a:lnTo>
                    <a:pt x="545943" y="704200"/>
                  </a:lnTo>
                  <a:lnTo>
                    <a:pt x="1283487" y="71053"/>
                  </a:lnTo>
                  <a:lnTo>
                    <a:pt x="3685518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5806861" y="4818577"/>
              <a:ext cx="3686421" cy="2347544"/>
            </a:xfrm>
            <a:custGeom>
              <a:avLst/>
              <a:pathLst>
                <a:path w="3686421" h="2347544">
                  <a:moveTo>
                    <a:pt x="0" y="2347544"/>
                  </a:moveTo>
                  <a:lnTo>
                    <a:pt x="50266" y="1670745"/>
                  </a:lnTo>
                  <a:lnTo>
                    <a:pt x="121947" y="1059970"/>
                  </a:lnTo>
                  <a:lnTo>
                    <a:pt x="271430" y="558583"/>
                  </a:lnTo>
                  <a:lnTo>
                    <a:pt x="554681" y="412027"/>
                  </a:lnTo>
                  <a:lnTo>
                    <a:pt x="1333971" y="272723"/>
                  </a:lnTo>
                  <a:lnTo>
                    <a:pt x="3686421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5808745" y="4531476"/>
              <a:ext cx="3684537" cy="2634908"/>
            </a:xfrm>
            <a:custGeom>
              <a:avLst/>
              <a:pathLst>
                <a:path w="3684537" h="2634908">
                  <a:moveTo>
                    <a:pt x="0" y="2634908"/>
                  </a:moveTo>
                  <a:lnTo>
                    <a:pt x="49129" y="2231862"/>
                  </a:lnTo>
                  <a:lnTo>
                    <a:pt x="118100" y="1797088"/>
                  </a:lnTo>
                  <a:lnTo>
                    <a:pt x="269396" y="1281848"/>
                  </a:lnTo>
                  <a:lnTo>
                    <a:pt x="542859" y="837055"/>
                  </a:lnTo>
                  <a:lnTo>
                    <a:pt x="1318802" y="171539"/>
                  </a:lnTo>
                  <a:lnTo>
                    <a:pt x="3684537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742709" y="7101308"/>
              <a:ext cx="130109" cy="130109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836871" y="6614305"/>
              <a:ext cx="42412" cy="4241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898228" y="6269371"/>
              <a:ext cx="57670" cy="5767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6046294" y="5706732"/>
              <a:ext cx="61194" cy="6119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6315735" y="5156787"/>
              <a:ext cx="75944" cy="7594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7031832" y="4502193"/>
              <a:ext cx="118838" cy="118838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9431105" y="4428381"/>
              <a:ext cx="124355" cy="124355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5723647" y="7068122"/>
              <a:ext cx="170195" cy="147393"/>
            </a:xfrm>
            <a:custGeom>
              <a:avLst/>
              <a:pathLst>
                <a:path w="170195" h="147393">
                  <a:moveTo>
                    <a:pt x="85097" y="0"/>
                  </a:moveTo>
                  <a:lnTo>
                    <a:pt x="170195" y="147393"/>
                  </a:lnTo>
                  <a:lnTo>
                    <a:pt x="0" y="147393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5826467" y="6727073"/>
              <a:ext cx="62813" cy="54398"/>
            </a:xfrm>
            <a:custGeom>
              <a:avLst/>
              <a:pathLst>
                <a:path w="62813" h="54398">
                  <a:moveTo>
                    <a:pt x="31406" y="0"/>
                  </a:moveTo>
                  <a:lnTo>
                    <a:pt x="62813" y="54398"/>
                  </a:lnTo>
                  <a:lnTo>
                    <a:pt x="0" y="54398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5887934" y="6283633"/>
              <a:ext cx="77823" cy="67397"/>
            </a:xfrm>
            <a:custGeom>
              <a:avLst/>
              <a:pathLst>
                <a:path w="77823" h="67397">
                  <a:moveTo>
                    <a:pt x="38911" y="0"/>
                  </a:moveTo>
                  <a:lnTo>
                    <a:pt x="77823" y="67397"/>
                  </a:lnTo>
                  <a:lnTo>
                    <a:pt x="0" y="6739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6036250" y="5764953"/>
              <a:ext cx="83782" cy="72558"/>
            </a:xfrm>
            <a:custGeom>
              <a:avLst/>
              <a:pathLst>
                <a:path w="83782" h="72558">
                  <a:moveTo>
                    <a:pt x="41891" y="0"/>
                  </a:moveTo>
                  <a:lnTo>
                    <a:pt x="83782" y="72558"/>
                  </a:lnTo>
                  <a:lnTo>
                    <a:pt x="0" y="72558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6297838" y="5306447"/>
              <a:ext cx="107533" cy="93126"/>
            </a:xfrm>
            <a:custGeom>
              <a:avLst/>
              <a:pathLst>
                <a:path w="107533" h="93126">
                  <a:moveTo>
                    <a:pt x="53766" y="0"/>
                  </a:moveTo>
                  <a:lnTo>
                    <a:pt x="107533" y="93126"/>
                  </a:lnTo>
                  <a:lnTo>
                    <a:pt x="0" y="93126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7043218" y="4605640"/>
              <a:ext cx="168658" cy="146062"/>
            </a:xfrm>
            <a:custGeom>
              <a:avLst/>
              <a:pathLst>
                <a:path w="168658" h="146062">
                  <a:moveTo>
                    <a:pt x="84329" y="0"/>
                  </a:moveTo>
                  <a:lnTo>
                    <a:pt x="168658" y="146062"/>
                  </a:lnTo>
                  <a:lnTo>
                    <a:pt x="0" y="146062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9429365" y="4457671"/>
              <a:ext cx="127834" cy="110708"/>
            </a:xfrm>
            <a:custGeom>
              <a:avLst/>
              <a:pathLst>
                <a:path w="127834" h="110708">
                  <a:moveTo>
                    <a:pt x="63917" y="0"/>
                  </a:moveTo>
                  <a:lnTo>
                    <a:pt x="127834" y="110708"/>
                  </a:lnTo>
                  <a:lnTo>
                    <a:pt x="0" y="110708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5740053" y="7099427"/>
              <a:ext cx="133690" cy="13369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5838027" y="6497130"/>
              <a:ext cx="39911" cy="3991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5902980" y="6002835"/>
              <a:ext cx="51438" cy="51438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6049208" y="5476018"/>
              <a:ext cx="56690" cy="5669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6322288" y="5162641"/>
              <a:ext cx="75606" cy="75606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7083908" y="5010008"/>
              <a:ext cx="148243" cy="14824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9393928" y="4895983"/>
              <a:ext cx="198708" cy="198708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5717238" y="7062633"/>
              <a:ext cx="179247" cy="155232"/>
            </a:xfrm>
            <a:custGeom>
              <a:avLst/>
              <a:pathLst>
                <a:path w="179247" h="155232">
                  <a:moveTo>
                    <a:pt x="89623" y="0"/>
                  </a:moveTo>
                  <a:lnTo>
                    <a:pt x="179247" y="155232"/>
                  </a:lnTo>
                  <a:lnTo>
                    <a:pt x="0" y="155232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5830806" y="6458930"/>
              <a:ext cx="52641" cy="45588"/>
            </a:xfrm>
            <a:custGeom>
              <a:avLst/>
              <a:pathLst>
                <a:path w="52641" h="45588">
                  <a:moveTo>
                    <a:pt x="26320" y="0"/>
                  </a:moveTo>
                  <a:lnTo>
                    <a:pt x="52641" y="45588"/>
                  </a:lnTo>
                  <a:lnTo>
                    <a:pt x="0" y="45588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5896267" y="5840973"/>
              <a:ext cx="65081" cy="56362"/>
            </a:xfrm>
            <a:custGeom>
              <a:avLst/>
              <a:pathLst>
                <a:path w="65081" h="56362">
                  <a:moveTo>
                    <a:pt x="32540" y="0"/>
                  </a:moveTo>
                  <a:lnTo>
                    <a:pt x="65081" y="56362"/>
                  </a:lnTo>
                  <a:lnTo>
                    <a:pt x="0" y="56362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6041908" y="5335149"/>
              <a:ext cx="72766" cy="63017"/>
            </a:xfrm>
            <a:custGeom>
              <a:avLst/>
              <a:pathLst>
                <a:path w="72766" h="63017">
                  <a:moveTo>
                    <a:pt x="36383" y="0"/>
                  </a:moveTo>
                  <a:lnTo>
                    <a:pt x="72766" y="63017"/>
                  </a:lnTo>
                  <a:lnTo>
                    <a:pt x="0" y="6301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6310910" y="5172139"/>
              <a:ext cx="101266" cy="87699"/>
            </a:xfrm>
            <a:custGeom>
              <a:avLst/>
              <a:pathLst>
                <a:path w="101266" h="87699">
                  <a:moveTo>
                    <a:pt x="50633" y="0"/>
                  </a:moveTo>
                  <a:lnTo>
                    <a:pt x="101266" y="87699"/>
                  </a:lnTo>
                  <a:lnTo>
                    <a:pt x="0" y="87699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7042023" y="4977206"/>
              <a:ext cx="197618" cy="171142"/>
            </a:xfrm>
            <a:custGeom>
              <a:avLst/>
              <a:pathLst>
                <a:path w="197618" h="171142">
                  <a:moveTo>
                    <a:pt x="98809" y="0"/>
                  </a:moveTo>
                  <a:lnTo>
                    <a:pt x="197618" y="171142"/>
                  </a:lnTo>
                  <a:lnTo>
                    <a:pt x="0" y="171142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9374588" y="4681520"/>
              <a:ext cx="237389" cy="205585"/>
            </a:xfrm>
            <a:custGeom>
              <a:avLst/>
              <a:pathLst>
                <a:path w="237389" h="205585">
                  <a:moveTo>
                    <a:pt x="118694" y="0"/>
                  </a:moveTo>
                  <a:lnTo>
                    <a:pt x="237389" y="205585"/>
                  </a:lnTo>
                  <a:lnTo>
                    <a:pt x="0" y="20558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5622540" y="4356768"/>
              <a:ext cx="4055063" cy="294340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tx545"/>
            <p:cNvSpPr/>
            <p:nvPr/>
          </p:nvSpPr>
          <p:spPr>
            <a:xfrm>
              <a:off x="5382174" y="7160872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5382174" y="638764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5382174" y="561442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5382174" y="484119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549" name="pl549"/>
            <p:cNvSpPr/>
            <p:nvPr/>
          </p:nvSpPr>
          <p:spPr>
            <a:xfrm>
              <a:off x="5587745" y="72046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5587745" y="64314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5587745" y="56582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5587745" y="48849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5803796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6726168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7648539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8570911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9493283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tx558"/>
            <p:cNvSpPr/>
            <p:nvPr/>
          </p:nvSpPr>
          <p:spPr>
            <a:xfrm>
              <a:off x="5679376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559" name="tx559"/>
            <p:cNvSpPr/>
            <p:nvPr/>
          </p:nvSpPr>
          <p:spPr>
            <a:xfrm>
              <a:off x="6601747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0.25</a:t>
              </a:r>
            </a:p>
          </p:txBody>
        </p:sp>
        <p:sp>
          <p:nvSpPr>
            <p:cNvPr id="560" name="tx560"/>
            <p:cNvSpPr/>
            <p:nvPr/>
          </p:nvSpPr>
          <p:spPr>
            <a:xfrm>
              <a:off x="7524119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0.50</a:t>
              </a:r>
            </a:p>
          </p:txBody>
        </p:sp>
        <p:sp>
          <p:nvSpPr>
            <p:cNvPr id="561" name="tx561"/>
            <p:cNvSpPr/>
            <p:nvPr/>
          </p:nvSpPr>
          <p:spPr>
            <a:xfrm>
              <a:off x="8446491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0.75</a:t>
              </a:r>
            </a:p>
          </p:txBody>
        </p:sp>
        <p:sp>
          <p:nvSpPr>
            <p:cNvPr id="562" name="tx562"/>
            <p:cNvSpPr/>
            <p:nvPr/>
          </p:nvSpPr>
          <p:spPr>
            <a:xfrm>
              <a:off x="9368862" y="735975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1.00</a:t>
              </a:r>
            </a:p>
          </p:txBody>
        </p:sp>
        <p:sp>
          <p:nvSpPr>
            <p:cNvPr id="563" name="tx563"/>
            <p:cNvSpPr/>
            <p:nvPr/>
          </p:nvSpPr>
          <p:spPr>
            <a:xfrm>
              <a:off x="6893386" y="7468965"/>
              <a:ext cx="1513371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q-value in band</a:t>
              </a:r>
            </a:p>
          </p:txBody>
        </p:sp>
        <p:sp>
          <p:nvSpPr>
            <p:cNvPr id="564" name="tx564"/>
            <p:cNvSpPr/>
            <p:nvPr/>
          </p:nvSpPr>
          <p:spPr>
            <a:xfrm rot="-5400000">
              <a:off x="4740967" y="5760873"/>
              <a:ext cx="1019509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Decoy fraction</a:t>
              </a:r>
            </a:p>
          </p:txBody>
        </p:sp>
        <p:sp>
          <p:nvSpPr>
            <p:cNvPr id="565" name="rc565"/>
            <p:cNvSpPr/>
            <p:nvPr/>
          </p:nvSpPr>
          <p:spPr>
            <a:xfrm>
              <a:off x="8167964" y="583906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8189910" y="594879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8167964" y="605851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8189910" y="616824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tx569"/>
            <p:cNvSpPr/>
            <p:nvPr/>
          </p:nvSpPr>
          <p:spPr>
            <a:xfrm>
              <a:off x="8457009" y="5881370"/>
              <a:ext cx="534734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First pass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8457009" y="6100826"/>
              <a:ext cx="70270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Second pass</a:t>
              </a:r>
            </a:p>
          </p:txBody>
        </p:sp>
        <p:sp>
          <p:nvSpPr>
            <p:cNvPr id="571" name="rc571"/>
            <p:cNvSpPr/>
            <p:nvPr/>
          </p:nvSpPr>
          <p:spPr>
            <a:xfrm>
              <a:off x="8167964" y="66259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8189910" y="67356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8167964" y="684537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8189910" y="69551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tx575"/>
            <p:cNvSpPr/>
            <p:nvPr/>
          </p:nvSpPr>
          <p:spPr>
            <a:xfrm>
              <a:off x="8457009" y="6689891"/>
              <a:ext cx="295880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Basic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8457009" y="6887683"/>
              <a:ext cx="68311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Semi-tryptic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5622540" y="4137854"/>
              <a:ext cx="2816448" cy="122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Decoy fraction by q-value band (global lists)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5622540" y="3919400"/>
              <a:ext cx="1905892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E. Equal-chance check</a:t>
              </a:r>
            </a:p>
          </p:txBody>
        </p:sp>
        <p:sp>
          <p:nvSpPr>
            <p:cNvPr id="579" name="rc579"/>
            <p:cNvSpPr/>
            <p:nvPr/>
          </p:nvSpPr>
          <p:spPr>
            <a:xfrm>
              <a:off x="9747193" y="3886199"/>
              <a:ext cx="4813617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10436158" y="4356768"/>
              <a:ext cx="4055063" cy="29434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10436158" y="6726508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10436158" y="6049057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10436158" y="5371606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10436158" y="4694155"/>
              <a:ext cx="4055063" cy="0"/>
            </a:xfrm>
            <a:custGeom>
              <a:avLst/>
              <a:pathLst>
                <a:path w="4055063" h="0">
                  <a:moveTo>
                    <a:pt x="0" y="0"/>
                  </a:moveTo>
                  <a:lnTo>
                    <a:pt x="4055063" y="0"/>
                  </a:lnTo>
                  <a:lnTo>
                    <a:pt x="40550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10620479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11737228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12853977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13970725" y="4356768"/>
              <a:ext cx="0" cy="2943408"/>
            </a:xfrm>
            <a:custGeom>
              <a:avLst/>
              <a:pathLst>
                <a:path w="0" h="2943408">
                  <a:moveTo>
                    <a:pt x="0" y="29434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10620479" y="4579388"/>
              <a:ext cx="3686421" cy="2524324"/>
            </a:xfrm>
            <a:custGeom>
              <a:avLst/>
              <a:pathLst>
                <a:path w="3686421" h="2524324">
                  <a:moveTo>
                    <a:pt x="0" y="2524324"/>
                  </a:moveTo>
                  <a:lnTo>
                    <a:pt x="780573" y="2083076"/>
                  </a:lnTo>
                  <a:lnTo>
                    <a:pt x="1116748" y="1922547"/>
                  </a:lnTo>
                  <a:lnTo>
                    <a:pt x="1452923" y="1654571"/>
                  </a:lnTo>
                  <a:lnTo>
                    <a:pt x="1897322" y="1377154"/>
                  </a:lnTo>
                  <a:lnTo>
                    <a:pt x="2233497" y="1156145"/>
                  </a:lnTo>
                  <a:lnTo>
                    <a:pt x="2569672" y="937141"/>
                  </a:lnTo>
                  <a:lnTo>
                    <a:pt x="3014071" y="616137"/>
                  </a:lnTo>
                  <a:lnTo>
                    <a:pt x="3350246" y="342384"/>
                  </a:lnTo>
                  <a:lnTo>
                    <a:pt x="3686421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10620479" y="4541668"/>
              <a:ext cx="3686421" cy="2589378"/>
            </a:xfrm>
            <a:custGeom>
              <a:avLst/>
              <a:pathLst>
                <a:path w="3686421" h="2589378">
                  <a:moveTo>
                    <a:pt x="0" y="2589378"/>
                  </a:moveTo>
                  <a:lnTo>
                    <a:pt x="780573" y="2094931"/>
                  </a:lnTo>
                  <a:lnTo>
                    <a:pt x="1116748" y="1883724"/>
                  </a:lnTo>
                  <a:lnTo>
                    <a:pt x="1452923" y="1664005"/>
                  </a:lnTo>
                  <a:lnTo>
                    <a:pt x="1897322" y="1360189"/>
                  </a:lnTo>
                  <a:lnTo>
                    <a:pt x="2233497" y="1165269"/>
                  </a:lnTo>
                  <a:lnTo>
                    <a:pt x="2569672" y="940732"/>
                  </a:lnTo>
                  <a:lnTo>
                    <a:pt x="3014071" y="609409"/>
                  </a:lnTo>
                  <a:lnTo>
                    <a:pt x="3350246" y="356096"/>
                  </a:lnTo>
                  <a:lnTo>
                    <a:pt x="3686421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10620479" y="4539673"/>
              <a:ext cx="3686421" cy="2541817"/>
            </a:xfrm>
            <a:custGeom>
              <a:avLst/>
              <a:pathLst>
                <a:path w="3686421" h="2541817">
                  <a:moveTo>
                    <a:pt x="0" y="2541817"/>
                  </a:moveTo>
                  <a:lnTo>
                    <a:pt x="780573" y="2124897"/>
                  </a:lnTo>
                  <a:lnTo>
                    <a:pt x="1116748" y="1937026"/>
                  </a:lnTo>
                  <a:lnTo>
                    <a:pt x="1452923" y="1710987"/>
                  </a:lnTo>
                  <a:lnTo>
                    <a:pt x="1897322" y="1431741"/>
                  </a:lnTo>
                  <a:lnTo>
                    <a:pt x="2233497" y="1202384"/>
                  </a:lnTo>
                  <a:lnTo>
                    <a:pt x="2569672" y="980478"/>
                  </a:lnTo>
                  <a:lnTo>
                    <a:pt x="3014071" y="638067"/>
                  </a:lnTo>
                  <a:lnTo>
                    <a:pt x="3350246" y="334484"/>
                  </a:lnTo>
                  <a:lnTo>
                    <a:pt x="3686421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10620479" y="4490559"/>
              <a:ext cx="3686421" cy="2675825"/>
            </a:xfrm>
            <a:custGeom>
              <a:avLst/>
              <a:pathLst>
                <a:path w="3686421" h="2675825">
                  <a:moveTo>
                    <a:pt x="0" y="2675825"/>
                  </a:moveTo>
                  <a:lnTo>
                    <a:pt x="780573" y="2155032"/>
                  </a:lnTo>
                  <a:lnTo>
                    <a:pt x="1116748" y="1967796"/>
                  </a:lnTo>
                  <a:lnTo>
                    <a:pt x="1452923" y="1761841"/>
                  </a:lnTo>
                  <a:lnTo>
                    <a:pt x="1897322" y="1517248"/>
                  </a:lnTo>
                  <a:lnTo>
                    <a:pt x="2233497" y="1281277"/>
                  </a:lnTo>
                  <a:lnTo>
                    <a:pt x="2569672" y="1044433"/>
                  </a:lnTo>
                  <a:lnTo>
                    <a:pt x="3014071" y="706707"/>
                  </a:lnTo>
                  <a:lnTo>
                    <a:pt x="3350246" y="413327"/>
                  </a:lnTo>
                  <a:lnTo>
                    <a:pt x="3686421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10588878" y="7099445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11369452" y="660499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11705626" y="639379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12041801" y="617407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12486200" y="587025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12822375" y="567533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13158550" y="5450799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13602949" y="5119476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13939124" y="486616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14275299" y="4510067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10577919" y="711724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11358493" y="6596448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11694668" y="640921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12030843" y="620325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12475242" y="595866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12811417" y="572269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13147592" y="548584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13591991" y="5148122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13928166" y="4854743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14264341" y="4441415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10588878" y="707211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11369452" y="6630863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11705626" y="6470334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12041801" y="6202359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12486200" y="592494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12822375" y="5703932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13158550" y="5484928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13602949" y="5163924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13939124" y="4890171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14275299" y="4547787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10577919" y="703234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11358493" y="661542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11694668" y="6427556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12030843" y="620151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12475242" y="592227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12811417" y="569291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13147592" y="547100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13591991" y="5128597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13928166" y="4825014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14264341" y="4490529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10436158" y="4356768"/>
              <a:ext cx="4055063" cy="294340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tx634"/>
            <p:cNvSpPr/>
            <p:nvPr/>
          </p:nvSpPr>
          <p:spPr>
            <a:xfrm>
              <a:off x="10231317" y="6682715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635" name="tx635"/>
            <p:cNvSpPr/>
            <p:nvPr/>
          </p:nvSpPr>
          <p:spPr>
            <a:xfrm>
              <a:off x="10160212" y="6005264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636" name="tx636"/>
            <p:cNvSpPr/>
            <p:nvPr/>
          </p:nvSpPr>
          <p:spPr>
            <a:xfrm>
              <a:off x="10053582" y="5316408"/>
              <a:ext cx="319945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1,000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9982477" y="4638957"/>
              <a:ext cx="391050" cy="959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10,000</a:t>
              </a:r>
            </a:p>
          </p:txBody>
        </p:sp>
        <p:sp>
          <p:nvSpPr>
            <p:cNvPr id="638" name="pl638"/>
            <p:cNvSpPr/>
            <p:nvPr/>
          </p:nvSpPr>
          <p:spPr>
            <a:xfrm>
              <a:off x="10401363" y="67265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10401363" y="60490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10401363" y="53716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10401363" y="46941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10620479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11737228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12853977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13970725" y="73001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tx646"/>
            <p:cNvSpPr/>
            <p:nvPr/>
          </p:nvSpPr>
          <p:spPr>
            <a:xfrm>
              <a:off x="10442962" y="7359750"/>
              <a:ext cx="35503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647" name="tx647"/>
            <p:cNvSpPr/>
            <p:nvPr/>
          </p:nvSpPr>
          <p:spPr>
            <a:xfrm>
              <a:off x="11595263" y="7359750"/>
              <a:ext cx="283929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648" name="tx648"/>
            <p:cNvSpPr/>
            <p:nvPr/>
          </p:nvSpPr>
          <p:spPr>
            <a:xfrm>
              <a:off x="12765327" y="7359750"/>
              <a:ext cx="177298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649" name="tx649"/>
            <p:cNvSpPr/>
            <p:nvPr/>
          </p:nvSpPr>
          <p:spPr>
            <a:xfrm>
              <a:off x="13846523" y="7359750"/>
              <a:ext cx="24840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650" name="tx650"/>
            <p:cNvSpPr/>
            <p:nvPr/>
          </p:nvSpPr>
          <p:spPr>
            <a:xfrm>
              <a:off x="12417646" y="7524354"/>
              <a:ext cx="92087" cy="7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</a:t>
              </a:r>
            </a:p>
          </p:txBody>
        </p:sp>
        <p:sp>
          <p:nvSpPr>
            <p:cNvPr id="651" name="tx651"/>
            <p:cNvSpPr/>
            <p:nvPr/>
          </p:nvSpPr>
          <p:spPr>
            <a:xfrm rot="-5400000">
              <a:off x="8985778" y="5760873"/>
              <a:ext cx="173049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Σ PEP (accepted targets)</a:t>
              </a:r>
            </a:p>
          </p:txBody>
        </p:sp>
        <p:sp>
          <p:nvSpPr>
            <p:cNvPr id="652" name="rc652"/>
            <p:cNvSpPr/>
            <p:nvPr/>
          </p:nvSpPr>
          <p:spPr>
            <a:xfrm>
              <a:off x="12981582" y="583906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13003528" y="594879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12981582" y="605851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13003528" y="616824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tx656"/>
            <p:cNvSpPr/>
            <p:nvPr/>
          </p:nvSpPr>
          <p:spPr>
            <a:xfrm>
              <a:off x="13270627" y="5881370"/>
              <a:ext cx="534734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First pass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13270627" y="6100826"/>
              <a:ext cx="70270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Second pass</a:t>
              </a:r>
            </a:p>
          </p:txBody>
        </p:sp>
        <p:sp>
          <p:nvSpPr>
            <p:cNvPr id="658" name="rc658"/>
            <p:cNvSpPr/>
            <p:nvPr/>
          </p:nvSpPr>
          <p:spPr>
            <a:xfrm>
              <a:off x="12981582" y="66259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13003528" y="67356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13059709" y="6704047"/>
              <a:ext cx="63202" cy="6320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12981582" y="684537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13003528" y="69551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13048750" y="6905961"/>
              <a:ext cx="85119" cy="73715"/>
            </a:xfrm>
            <a:custGeom>
              <a:avLst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tx664"/>
            <p:cNvSpPr/>
            <p:nvPr/>
          </p:nvSpPr>
          <p:spPr>
            <a:xfrm>
              <a:off x="13270627" y="6689891"/>
              <a:ext cx="295880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Basic</a:t>
              </a:r>
            </a:p>
          </p:txBody>
        </p:sp>
        <p:sp>
          <p:nvSpPr>
            <p:cNvPr id="665" name="tx665"/>
            <p:cNvSpPr/>
            <p:nvPr/>
          </p:nvSpPr>
          <p:spPr>
            <a:xfrm>
              <a:off x="13270627" y="6887683"/>
              <a:ext cx="68311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Semi-tryptic</a:t>
              </a:r>
            </a:p>
          </p:txBody>
        </p:sp>
        <p:sp>
          <p:nvSpPr>
            <p:cNvPr id="666" name="tx666"/>
            <p:cNvSpPr/>
            <p:nvPr/>
          </p:nvSpPr>
          <p:spPr>
            <a:xfrm>
              <a:off x="10436158" y="3918209"/>
              <a:ext cx="2153989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F. Expected false targets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2026-10-28T09:07:20Z</dcterms:modified>
  <cp:category/>
</cp:coreProperties>
</file>